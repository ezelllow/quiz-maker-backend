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9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21388388" cy="30275213"/>
  <p:notesSz cx="7010400" cy="9296400"/>
  <p:defaultTextStyle>
    <a:defPPr>
      <a:defRPr lang="en-US"/>
    </a:defPPr>
    <a:lvl1pPr algn="l" defTabSz="1474788" rtl="0" eaLnBrk="0" fontAlgn="base" hangingPunct="0">
      <a:spcBef>
        <a:spcPct val="0"/>
      </a:spcBef>
      <a:spcAft>
        <a:spcPct val="0"/>
      </a:spcAft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1474788" indent="-1017588" algn="l" defTabSz="1474788" rtl="0" eaLnBrk="0" fontAlgn="base" hangingPunct="0">
      <a:spcBef>
        <a:spcPct val="0"/>
      </a:spcBef>
      <a:spcAft>
        <a:spcPct val="0"/>
      </a:spcAft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2951163" indent="-2036763" algn="l" defTabSz="1474788" rtl="0" eaLnBrk="0" fontAlgn="base" hangingPunct="0">
      <a:spcBef>
        <a:spcPct val="0"/>
      </a:spcBef>
      <a:spcAft>
        <a:spcPct val="0"/>
      </a:spcAft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4427538" indent="-3055938" algn="l" defTabSz="1474788" rtl="0" eaLnBrk="0" fontAlgn="base" hangingPunct="0">
      <a:spcBef>
        <a:spcPct val="0"/>
      </a:spcBef>
      <a:spcAft>
        <a:spcPct val="0"/>
      </a:spcAft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5903913" indent="-4075113" algn="l" defTabSz="1474788" rtl="0" eaLnBrk="0" fontAlgn="base" hangingPunct="0">
      <a:spcBef>
        <a:spcPct val="0"/>
      </a:spcBef>
      <a:spcAft>
        <a:spcPct val="0"/>
      </a:spcAft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58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5">
          <p15:clr>
            <a:srgbClr val="A4A3A4"/>
          </p15:clr>
        </p15:guide>
        <p15:guide id="2" pos="673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FF7C80"/>
    <a:srgbClr val="E72631"/>
    <a:srgbClr val="C64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9" autoAdjust="0"/>
    <p:restoredTop sz="94600" autoAdjust="0"/>
  </p:normalViewPr>
  <p:slideViewPr>
    <p:cSldViewPr snapToGrid="0" snapToObjects="1">
      <p:cViewPr varScale="1">
        <p:scale>
          <a:sx n="18" d="100"/>
          <a:sy n="18" d="100"/>
        </p:scale>
        <p:origin x="2880" y="106"/>
      </p:cViewPr>
      <p:guideLst>
        <p:guide orient="horz" pos="9535"/>
        <p:guide pos="67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59" d="100"/>
          <a:sy n="59" d="100"/>
        </p:scale>
        <p:origin x="-2556" y="-90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hangingPunct="1">
              <a:defRPr sz="1200"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hangingPunct="1">
              <a:defRPr sz="1200"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fld id="{D702BE55-B400-4C63-A73C-250744228B26}" type="datetimeFigureOut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hangingPunct="1">
              <a:defRPr sz="1200"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CC80B864-7356-41B8-A776-BCEA3F914EB7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25877001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fld id="{25655612-9785-4D7C-A0C0-9518EED7C517}" type="datetimeFigureOut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3300" y="696913"/>
            <a:ext cx="24638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SG" noProof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SG" noProof="0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6E40170A-C183-4FD9-8BD2-0CD4F172BF6D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144886032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375" y="9404350"/>
            <a:ext cx="18181638" cy="64897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8338" y="17156113"/>
            <a:ext cx="14971712" cy="77374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A860CD-DCD3-4D02-86FB-B84CE94774C6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7BF8FF-EDBF-4416-8F20-65315C1C1322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964875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974" y="7064375"/>
            <a:ext cx="20318413" cy="232108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3FCF5B-D1CB-4BB8-8DA2-29805B660F4C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82365-0D34-41D6-9E18-F32C3A41DE87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179232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9100" y="19454813"/>
            <a:ext cx="18180050" cy="60134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89100" y="12831763"/>
            <a:ext cx="18180050" cy="662305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A2A5AB-8925-4067-BDEB-3125741DD99A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DD5AEA-1402-4B9C-AB71-068FA52A379A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4074667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975" y="7064375"/>
            <a:ext cx="9547225" cy="19980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769600" y="7064375"/>
            <a:ext cx="9548813" cy="19980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DCF9CB-9E09-4D39-A7A2-D853698B4A18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DECD96-011B-483F-BDE4-FE24FCF295A0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253354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975" y="6777038"/>
            <a:ext cx="9450388" cy="28241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975" y="9601200"/>
            <a:ext cx="9450388" cy="174434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4850" y="6777038"/>
            <a:ext cx="9453563" cy="28241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4850" y="9601200"/>
            <a:ext cx="9453563" cy="174434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94A6FB-A752-4AFF-A14D-8D792C0C1D22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BA1D70-E835-4411-9FED-8926DF854E2A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3392374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F9A22D-7B9E-437B-ADC5-01CFF012269B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411C0B-C83B-44C9-A219-F2DFA9F8B8F9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21194832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6B85EB-45CE-485F-91FE-2082FF178A7D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C7AF6B-552A-4956-953B-9BF26D029D31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31517024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975" y="1204913"/>
            <a:ext cx="7035800" cy="51308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2950" y="1204913"/>
            <a:ext cx="11955463" cy="258397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975" y="6335713"/>
            <a:ext cx="7035800" cy="2070893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2B38BA-EFE7-4BAD-9226-69E37A72C719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4FCAA9-7AEB-4AEE-BD39-35F0CA8E28E5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1328086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2588" y="21193125"/>
            <a:ext cx="12833350" cy="25019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2588" y="2705100"/>
            <a:ext cx="12833350" cy="18165763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SG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2588" y="23695025"/>
            <a:ext cx="12833350" cy="35528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0F82F40-83F2-49FE-96A5-CCE7AF5D5C6B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9B86D3-AF50-430F-911D-29A2FB1979DE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3505212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B7AD8E-0C08-4105-B1DD-591F9C30AC83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C7E3A5-B71F-43C4-9607-86B530D2AA04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345633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506700" y="1212850"/>
            <a:ext cx="4811713" cy="258318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9975" y="1212850"/>
            <a:ext cx="14284325" cy="258318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AE2254-2F47-4AC0-B3A3-E4730B94E16D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D61C48-248C-4B98-BB06-4989C1C211D7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</p:spTree>
    <p:extLst>
      <p:ext uri="{BB962C8B-B14F-4D97-AF65-F5344CB8AC3E}">
        <p14:creationId xmlns:p14="http://schemas.microsoft.com/office/powerpoint/2010/main" val="3956548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398112-6EE6-45B4-B622-B7231387332F}" type="datetime1">
              <a:rPr lang="en-US"/>
              <a:pPr>
                <a:defRPr/>
              </a:pPr>
              <a:t>11/29/2019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AEC5BA-6666-4301-93AE-31B2C544710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667951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1069975" y="1212850"/>
            <a:ext cx="19248438" cy="5045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smtClean="0"/>
              <a:t>Click to edit Master title style</a:t>
            </a:r>
            <a:endParaRPr lang="en-SG" altLang="en-US" smtClean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69975" y="7064375"/>
            <a:ext cx="19248438" cy="1998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smtClean="0"/>
              <a:t>Click to edit Master text styles</a:t>
            </a:r>
          </a:p>
          <a:p>
            <a:pPr lvl="1"/>
            <a:r>
              <a:rPr lang="en-US" altLang="en-US" smtClean="0"/>
              <a:t>Second level</a:t>
            </a:r>
          </a:p>
          <a:p>
            <a:pPr lvl="2"/>
            <a:r>
              <a:rPr lang="en-US" altLang="en-US" smtClean="0"/>
              <a:t>Third level</a:t>
            </a:r>
          </a:p>
          <a:p>
            <a:pPr lvl="3"/>
            <a:r>
              <a:rPr lang="en-US" altLang="en-US" smtClean="0"/>
              <a:t>Fourth level</a:t>
            </a:r>
          </a:p>
          <a:p>
            <a:pPr lvl="4"/>
            <a:r>
              <a:rPr lang="en-US" altLang="en-US" smtClean="0"/>
              <a:t>Fifth level</a:t>
            </a:r>
            <a:endParaRPr lang="en-SG" alt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975" y="28060650"/>
            <a:ext cx="4989513" cy="161131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rgbClr val="898989"/>
                </a:solidFill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fld id="{BF2B5B69-BE24-415F-8246-CB1F9536D058}" type="datetime1">
              <a:rPr lang="en-SG"/>
              <a:pPr>
                <a:defRPr/>
              </a:pPr>
              <a:t>29/11/2019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07263" y="28060650"/>
            <a:ext cx="6773862" cy="161131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Arial" charset="0"/>
                <a:ea typeface="ＭＳ Ｐゴシック" pitchFamily="-110" charset="-128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28900" y="28060650"/>
            <a:ext cx="4989513" cy="161131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F39CCA2A-A1BB-4C74-BA2E-69F02168B373}" type="slidenum">
              <a:rPr lang="en-SG" altLang="en-US"/>
              <a:pPr>
                <a:defRPr/>
              </a:pPr>
              <a:t>‹#›</a:t>
            </a:fld>
            <a:endParaRPr lang="en-SG" alt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21409859" cy="3027521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21" r:id="rId1"/>
    <p:sldLayoutId id="2147484022" r:id="rId2"/>
    <p:sldLayoutId id="2147484023" r:id="rId3"/>
    <p:sldLayoutId id="2147484024" r:id="rId4"/>
    <p:sldLayoutId id="2147484025" r:id="rId5"/>
    <p:sldLayoutId id="2147484026" r:id="rId6"/>
    <p:sldLayoutId id="2147484027" r:id="rId7"/>
    <p:sldLayoutId id="2147484028" r:id="rId8"/>
    <p:sldLayoutId id="2147484029" r:id="rId9"/>
    <p:sldLayoutId id="2147484030" r:id="rId10"/>
    <p:sldLayoutId id="2147484031" r:id="rId11"/>
    <p:sldLayoutId id="2147484032" r:id="rId12"/>
  </p:sldLayoutIdLst>
  <p:timing>
    <p:tnLst>
      <p:par>
        <p:cTn id="1" dur="indefinite" restart="never" nodeType="tmRoot"/>
      </p:par>
    </p:tnLst>
  </p:timing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0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8984974" y="1325442"/>
            <a:ext cx="12403414" cy="13234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SG" sz="8000" b="1" dirty="0" smtClean="0">
                <a:latin typeface="Century Gothic" panose="020B0502020202020204" pitchFamily="34" charset="0"/>
              </a:rPr>
              <a:t>Curious Lab</a:t>
            </a:r>
            <a:endParaRPr lang="en-SG" sz="8000" b="1" dirty="0">
              <a:latin typeface="Century Gothic" panose="020B0502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571942" y="27528218"/>
            <a:ext cx="1334420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sz="3600" dirty="0">
                <a:latin typeface="Century Gothic" panose="020B0502020202020204" pitchFamily="34" charset="0"/>
              </a:rPr>
              <a:t>Student : Ezell Low Qing Wei   I   Class : DCPE/FT/3B/99</a:t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  <a:r>
              <a:rPr lang="en-SG" sz="3600" dirty="0" err="1" smtClean="0">
                <a:latin typeface="Century Gothic" panose="020B0502020202020204" pitchFamily="34" charset="0"/>
              </a:rPr>
              <a:t/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  <a:r>
              <a:rPr lang="en-SG" sz="3600" dirty="0" err="1" smtClean="0">
                <a:latin typeface="Century Gothic" panose="020B0502020202020204" pitchFamily="34" charset="0"/>
              </a:rPr>
              <a:t/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  <a:r>
              <a:rPr lang="en-SG" sz="3600" b="1" dirty="0">
                <a:solidFill>
                  <a:srgbClr val="B23E65"/>
                </a:solidFill>
                <a:latin typeface="Century Gothic" panose="020B0502020202020204" pitchFamily="34" charset="0"/>
                <a:ea typeface="Adobe Gothic Std B" panose="020B0800000000000000" pitchFamily="34" charset="-128"/>
              </a:rPr>
              <a:t/>
            </a:r>
            <a:r>
              <a:rPr lang="en-SG" sz="3600" dirty="0">
                <a:latin typeface="Century Gothic" panose="020B0502020202020204" pitchFamily="34" charset="0"/>
              </a:rPr>
              <a:t/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  <a:endParaRPr lang="en-SG" sz="3600" dirty="0">
              <a:latin typeface="Century Gothic" panose="020B0502020202020204" pitchFamily="34" charset="0"/>
            </a:endParaRPr>
          </a:p>
          <a:p>
            <a:r>
              <a:rPr lang="en-SG" sz="3600" dirty="0">
                <a:latin typeface="Century Gothic" panose="020B0502020202020204" pitchFamily="34" charset="0"/>
              </a:rPr>
              <a:t>Company : Curious Lab</a:t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</a:p>
          <a:p>
            <a:r>
              <a:rPr lang="en-SG" sz="3600" dirty="0" smtClean="0">
                <a:latin typeface="Century Gothic" panose="020B0502020202020204" pitchFamily="34" charset="0"/>
              </a:rPr>
              <a:t>Company Supervisor : Mr Marcus Yip</a:t>
            </a:r>
            <a:r>
              <a:rPr lang="en-SG" sz="3600" dirty="0">
                <a:latin typeface="Century Gothic" panose="020B0502020202020204" pitchFamily="34" charset="0"/>
              </a:rPr>
              <a:t/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  <a:r>
              <a:rPr lang="en-SG" sz="3600" dirty="0" err="1" smtClean="0">
                <a:latin typeface="Century Gothic" panose="020B0502020202020204" pitchFamily="34" charset="0"/>
              </a:rPr>
              <a:t/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  <a:r>
              <a:rPr lang="en-SG" sz="3600" dirty="0" err="1" smtClean="0">
                <a:latin typeface="Century Gothic" panose="020B0502020202020204" pitchFamily="34" charset="0"/>
              </a:rPr>
              <a:t/>
            </a:r>
            <a:endParaRPr lang="en-SG" sz="3600" dirty="0">
              <a:latin typeface="Century Gothic" panose="020B0502020202020204" pitchFamily="34" charset="0"/>
            </a:endParaRPr>
          </a:p>
          <a:p>
            <a:r>
              <a:rPr lang="en-SG" sz="3600" dirty="0">
                <a:latin typeface="Century Gothic" panose="020B0502020202020204" pitchFamily="34" charset="0"/>
              </a:rPr>
              <a:t>LO : Mr Mohamed Ilyas Fakrudeen Abdul Salam</a:t>
            </a:r>
            <a:r>
              <a:rPr lang="en-SG" sz="3600" dirty="0" smtClean="0">
                <a:latin typeface="Century Gothic" panose="020B0502020202020204" pitchFamily="34" charset="0"/>
              </a:rPr>
              <a:t/>
            </a:r>
            <a:r>
              <a:rPr lang="en-SG" sz="3600" dirty="0" err="1" smtClean="0">
                <a:latin typeface="Century Gothic" panose="020B0502020202020204" pitchFamily="34" charset="0"/>
              </a:rPr>
              <a:t/>
            </a:r>
            <a:endParaRPr lang="en-SG" sz="3600" dirty="0">
              <a:latin typeface="Century Gothic" panose="020B0502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571942" y="7071723"/>
            <a:ext cx="8635319" cy="19697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B23E65"/>
                </a:solidFill>
                <a:latin typeface="Century Gothic"/>
              </a:rPr>
              <a:t>COMPANY PROFILE: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Curious Lab is a Singapore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educational-technology company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that builds digital products to help students learn.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Works with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primary and secondary school students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, making studying more effective and consistent.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4000" b="1">
                <a:solidFill>
                  <a:srgbClr val="B23E65"/>
                </a:solidFill>
                <a:latin typeface="Century Gothic"/>
              </a:rPr>
              <a:t>KEY AREAS OF RESPONSIBILITIES :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Sole full-stack developer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: designed, built and ran the whole system.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Built an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OCR + LLM pipeline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that extracts questions, answers and diagrams from exam papers.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Developed the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React front end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and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FastAPI + MySQL back end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: quizzes, streaks, XP, leaderboard, avatar shop, teacher dashboard.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Vetted question content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and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deployed to the cloud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4000" b="1">
                <a:solidFill>
                  <a:srgbClr val="B23E65"/>
                </a:solidFill>
                <a:latin typeface="Century Gothic"/>
              </a:rPr>
              <a:t>PROJECT TITLE &amp; SYNOPSIS:</a:t>
            </a:r>
          </a:p>
          <a:p>
            <a:pPr algn="l">
              <a:spcAft>
                <a:spcPts val="800"/>
              </a:spcAft>
            </a:pPr>
            <a:r>
              <a:rPr sz="2800" b="1">
                <a:solidFill>
                  <a:srgbClr val="22303C"/>
                </a:solidFill>
                <a:latin typeface="Century Gothic"/>
              </a:rPr>
              <a:t>A Gamified Study-Habit App Powered by an Exam-Paper Extraction Pipeline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Builds a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consistent daily study habit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using real exam questions.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An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automated pipeline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turns exam papers into the app's question bank.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Students get an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explanation the moment they answer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; streaks and XP keep them practising.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4000" b="1">
                <a:solidFill>
                  <a:srgbClr val="B23E65"/>
                </a:solidFill>
                <a:latin typeface="Century Gothic"/>
              </a:rPr>
              <a:t>IMPACT &amp; OUTCOME: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~130 exam papers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processed into a reusable question bank.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5 subjects / levels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shipped: Pure Physics, Combined G1/G2/G3, P6 Math.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Deployed to production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, now testing with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~22 students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Cut feedback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from days to instant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47120" y="14721840"/>
            <a:ext cx="8869680" cy="1207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B23E65"/>
                </a:solidFill>
                <a:latin typeface="Century Gothic"/>
              </a:rPr>
              <a:t>INTERNSHIP EXPERIENCE: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Owned the whole product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as the only developer, from problem statement to a deployed app.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Worked closely with my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supervisor and the founder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through weekly updates and roadmap meetings.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Helped shape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major product decisions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, including the rebrand to Ooka and the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ranks-to-XP switch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Learnt new tools on the job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: OCR, FastAPI, Google APIs, cloud hosting.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4000" b="1">
                <a:solidFill>
                  <a:srgbClr val="B23E65"/>
                </a:solidFill>
                <a:latin typeface="Century Gothic"/>
              </a:rPr>
              <a:t>REFLECTIONS: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I learned to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teach myself new technologies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 with no formal training, picking up OCR, FastAPI and cloud deployment as the work needed them.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I learned to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build and run a whole production system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, not just code that works on my laptop — deploying it, handling real data and keeping it live for students.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I got much better at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communicating my work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, framing problems and progress clearly for my supervisor and the founder.</a:t>
            </a:r>
          </a:p>
          <a:p>
            <a:pPr algn="l" marL="342900" indent="-342900">
              <a:spcAft>
                <a:spcPts val="800"/>
              </a:spcAft>
            </a:pPr>
            <a:r>
              <a:rPr sz="2500" b="0">
                <a:solidFill>
                  <a:srgbClr val="22303C"/>
                </a:solidFill>
                <a:latin typeface="Century Gothic"/>
              </a:rPr>
              <a:t>•  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Most of all, I want to </a:t>
            </a:r>
            <a:r>
              <a:rPr sz="2500" b="1">
                <a:solidFill>
                  <a:srgbClr val="22303C"/>
                </a:solidFill>
                <a:latin typeface="Century Gothic"/>
              </a:rPr>
              <a:t>build things that real people use</a:t>
            </a:r>
            <a:r>
              <a:rPr sz="2500" b="0">
                <a:solidFill>
                  <a:srgbClr val="22303C"/>
                </a:solidFill>
                <a:latin typeface="Century Gothic"/>
              </a:rPr>
              <a:t>. Seeing students actually learn with Ooka was the most rewarding part.</a:t>
            </a:r>
          </a:p>
        </p:txBody>
      </p:sp>
      <p:pic>
        <p:nvPicPr>
          <p:cNvPr id="35" name="Picture 34" descr="curious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95760" y="5486400"/>
            <a:ext cx="1874519" cy="1874519"/>
          </a:xfrm>
          <a:prstGeom prst="rect">
            <a:avLst/>
          </a:prstGeom>
        </p:spPr>
      </p:pic>
      <p:pic>
        <p:nvPicPr>
          <p:cNvPr id="36" name="Picture 35" descr="ooka_04_question_with_di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1360" y="7680960"/>
            <a:ext cx="3063240" cy="5857527"/>
          </a:xfrm>
          <a:prstGeom prst="rect">
            <a:avLst/>
          </a:prstGeom>
        </p:spPr>
      </p:pic>
      <p:pic>
        <p:nvPicPr>
          <p:cNvPr id="37" name="Picture 36" descr="ooka_01_ho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18920" y="7680960"/>
            <a:ext cx="3063240" cy="6066746"/>
          </a:xfrm>
          <a:prstGeom prst="rect">
            <a:avLst/>
          </a:prstGeom>
        </p:spPr>
      </p:pic>
      <p:pic>
        <p:nvPicPr>
          <p:cNvPr id="38" name="Picture 37" descr="ooka_07_leader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56480" y="7680960"/>
            <a:ext cx="3063240" cy="585752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881360" y="1394460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A6672"/>
                </a:solidFill>
                <a:latin typeface="Century Gothic"/>
              </a:rPr>
              <a:t>The live Ooka app: a question with its extracted diagram, the daily streak, and the leaderboard.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611880"/>
            <a:ext cx="2011680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7160" y="4160520"/>
            <a:ext cx="891540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5760" y="4572000"/>
            <a:ext cx="1417320" cy="1417320"/>
          </a:xfrm>
          <a:prstGeom prst="roundRect">
            <a:avLst/>
          </a:prstGeom>
          <a:solidFill>
            <a:srgbClr val="B23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Century Gothic"/>
              </a:rPr>
              <a:t>&lt;/&gt;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65960" y="4572000"/>
            <a:ext cx="676656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>
                <a:solidFill>
                  <a:srgbClr val="B23E65"/>
                </a:solidFill>
                <a:latin typeface="Century Gothic"/>
              </a:rPr>
              <a:t>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044260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4749</TotalTime>
  <Words>136</Words>
  <Application>Microsoft Office PowerPoint</Application>
  <PresentationFormat>Custom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Adobe Gothic Std B</vt:lpstr>
      <vt:lpstr>ＭＳ Ｐゴシック</vt:lpstr>
      <vt:lpstr>Arial</vt:lpstr>
      <vt:lpstr>Calibri</vt:lpstr>
      <vt:lpstr>Century Gothic</vt:lpstr>
      <vt:lpstr>Custom Design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Tanya Goh</dc:creator>
  <cp:lastModifiedBy>Tan Toh Seng</cp:lastModifiedBy>
  <cp:revision>163</cp:revision>
  <cp:lastPrinted>2017-07-04T00:27:22Z</cp:lastPrinted>
  <dcterms:created xsi:type="dcterms:W3CDTF">2011-11-24T10:03:41Z</dcterms:created>
  <dcterms:modified xsi:type="dcterms:W3CDTF">2019-11-29T05:12:31Z</dcterms:modified>
</cp:coreProperties>
</file>