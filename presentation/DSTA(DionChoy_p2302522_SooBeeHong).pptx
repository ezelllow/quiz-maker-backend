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21388388" cy="30275213"/>
  <p:notesSz cx="7010400" cy="9296400"/>
  <p:defaultTextStyle>
    <a:defPPr>
      <a:defRPr lang="en-US"/>
    </a:defPPr>
    <a:lvl1pPr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1474788" indent="-1017588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2951163" indent="-2036763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4427538" indent="-3055938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5903913" indent="-4075113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7C80"/>
    <a:srgbClr val="E72631"/>
    <a:srgbClr val="C64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D2233-142F-17DD-67D1-99F40A63C6BC}" v="137" dt="2026-02-09T02:59:18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9" autoAdjust="0"/>
    <p:restoredTop sz="94600" autoAdjust="0"/>
  </p:normalViewPr>
  <p:slideViewPr>
    <p:cSldViewPr snapToGrid="0" snapToObjects="1">
      <p:cViewPr>
        <p:scale>
          <a:sx n="25" d="100"/>
          <a:sy n="25" d="100"/>
        </p:scale>
        <p:origin x="2448" y="-1162"/>
      </p:cViewPr>
      <p:guideLst>
        <p:guide orient="horz" pos="9535"/>
        <p:guide pos="6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9" d="100"/>
          <a:sy n="59" d="100"/>
        </p:scale>
        <p:origin x="-2556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Y NING JUN DION" userId="S::dionchoy.23@ichat.sp.edu.sg::17a35b96-5866-44dc-9508-04dca9f5c3df" providerId="AD" clId="Web-{63BD2233-142F-17DD-67D1-99F40A63C6BC}"/>
    <pc:docChg chg="modSld">
      <pc:chgData name="CHOY NING JUN DION" userId="S::dionchoy.23@ichat.sp.edu.sg::17a35b96-5866-44dc-9508-04dca9f5c3df" providerId="AD" clId="Web-{63BD2233-142F-17DD-67D1-99F40A63C6BC}" dt="2026-02-09T02:59:13.311" v="65" actId="20577"/>
      <pc:docMkLst>
        <pc:docMk/>
      </pc:docMkLst>
      <pc:sldChg chg="modSp">
        <pc:chgData name="CHOY NING JUN DION" userId="S::dionchoy.23@ichat.sp.edu.sg::17a35b96-5866-44dc-9508-04dca9f5c3df" providerId="AD" clId="Web-{63BD2233-142F-17DD-67D1-99F40A63C6BC}" dt="2026-02-09T02:59:13.311" v="65" actId="20577"/>
        <pc:sldMkLst>
          <pc:docMk/>
          <pc:sldMk cId="2044260083" sldId="261"/>
        </pc:sldMkLst>
        <pc:spChg chg="mod">
          <ac:chgData name="CHOY NING JUN DION" userId="S::dionchoy.23@ichat.sp.edu.sg::17a35b96-5866-44dc-9508-04dca9f5c3df" providerId="AD" clId="Web-{63BD2233-142F-17DD-67D1-99F40A63C6BC}" dt="2026-02-09T02:59:13.311" v="65" actId="20577"/>
          <ac:spMkLst>
            <pc:docMk/>
            <pc:sldMk cId="2044260083" sldId="261"/>
            <ac:spMk id="20" creationId="{00000000-0000-0000-0000-000000000000}"/>
          </ac:spMkLst>
        </pc:spChg>
        <pc:spChg chg="mod">
          <ac:chgData name="CHOY NING JUN DION" userId="S::dionchoy.23@ichat.sp.edu.sg::17a35b96-5866-44dc-9508-04dca9f5c3df" providerId="AD" clId="Web-{63BD2233-142F-17DD-67D1-99F40A63C6BC}" dt="2026-02-09T02:52:27.763" v="10" actId="20577"/>
          <ac:spMkLst>
            <pc:docMk/>
            <pc:sldMk cId="2044260083" sldId="261"/>
            <ac:spMk id="2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D702BE55-B400-4C63-A73C-250744228B26}" type="datetimeFigureOut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C80B864-7356-41B8-A776-BCEA3F914EB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877001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25655612-9785-4D7C-A0C0-9518EED7C517}" type="datetimeFigureOut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696913"/>
            <a:ext cx="24638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S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SG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E40170A-C183-4FD9-8BD2-0CD4F172BF6D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448860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375" y="9404350"/>
            <a:ext cx="18181638" cy="6489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338" y="17156113"/>
            <a:ext cx="14971712" cy="77374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860CD-DCD3-4D02-86FB-B84CE94774C6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BF8FF-EDBF-4416-8F20-65315C1C1322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96487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4" y="7064375"/>
            <a:ext cx="20318413" cy="23210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FCF5B-D1CB-4BB8-8DA2-29805B660F4C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82365-0D34-41D6-9E18-F32C3A41DE8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79232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9454813"/>
            <a:ext cx="18180050" cy="60134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0" y="12831763"/>
            <a:ext cx="18180050" cy="66230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2A5AB-8925-4067-BDEB-3125741DD99A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D5AEA-1402-4B9C-AB71-068FA52A379A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07466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975" y="7064375"/>
            <a:ext cx="9547225" cy="19980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9600" y="7064375"/>
            <a:ext cx="9548813" cy="19980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CF9CB-9E09-4D39-A7A2-D853698B4A18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ECD96-011B-483F-BDE4-FE24FCF295A0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3354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975" y="6777038"/>
            <a:ext cx="9450388" cy="282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975" y="9601200"/>
            <a:ext cx="9450388" cy="174434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850" y="6777038"/>
            <a:ext cx="9453563" cy="282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850" y="9601200"/>
            <a:ext cx="9453563" cy="174434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4A6FB-A752-4AFF-A14D-8D792C0C1D22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A1D70-E835-4411-9FED-8926DF854E2A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39237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9A22D-7B9E-437B-ADC5-01CFF012269B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11C0B-C83B-44C9-A219-F2DFA9F8B8F9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11948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B85EB-45CE-485F-91FE-2082FF178A7D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AF6B-552A-4956-953B-9BF26D029D31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15170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5800" cy="5130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2950" y="1204913"/>
            <a:ext cx="11955463" cy="258397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975" y="6335713"/>
            <a:ext cx="7035800" cy="20708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B38BA-EFE7-4BAD-9226-69E37A72C719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FCAA9-7AEB-4AEE-BD39-35F0CA8E28E5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32808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588" y="21193125"/>
            <a:ext cx="12833350" cy="2501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588" y="2705100"/>
            <a:ext cx="12833350" cy="18165763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588" y="23695025"/>
            <a:ext cx="12833350" cy="3552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82F40-83F2-49FE-96A5-CCE7AF5D5C6B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B86D3-AF50-430F-911D-29A2FB1979DE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50521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7AD8E-0C08-4105-B1DD-591F9C30AC83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7E3A5-B71F-43C4-9607-86B530D2AA04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45633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6700" y="1212850"/>
            <a:ext cx="4811713" cy="25831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5" y="1212850"/>
            <a:ext cx="14284325" cy="25831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E2254-2F47-4AC0-B3A3-E4730B94E16D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61C48-248C-4B98-BB06-4989C1C211D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95654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98112-6EE6-45B4-B622-B7231387332F}" type="datetime1">
              <a:rPr lang="en-US"/>
              <a:pPr>
                <a:defRPr/>
              </a:pPr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EC5BA-6666-4301-93AE-31B2C54471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79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69975" y="1212850"/>
            <a:ext cx="19248438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SG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69975" y="7064375"/>
            <a:ext cx="19248438" cy="1998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SG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975" y="28060650"/>
            <a:ext cx="4989513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BF2B5B69-BE24-415F-8246-CB1F9536D058}" type="datetime1">
              <a:rPr lang="en-SG"/>
              <a:pPr>
                <a:defRPr/>
              </a:pPr>
              <a:t>8/2/2026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7263" y="28060650"/>
            <a:ext cx="6773862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8900" y="28060650"/>
            <a:ext cx="4989513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9CCA2A-A1BB-4C74-BA2E-69F02168B373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21409859" cy="302752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6">
            <a:extLst>
              <a:ext uri="{FF2B5EF4-FFF2-40B4-BE49-F238E27FC236}">
                <a16:creationId xmlns:a16="http://schemas.microsoft.com/office/drawing/2014/main" id="{A8DE807A-0C65-470D-1C8C-1F148B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3" t="10267" r="7813" b="8214"/>
          <a:stretch>
            <a:fillRect/>
          </a:stretch>
        </p:blipFill>
        <p:spPr bwMode="auto">
          <a:xfrm rot="579416">
            <a:off x="14566922" y="6872166"/>
            <a:ext cx="6179106" cy="3026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84974" y="94336"/>
            <a:ext cx="12403414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b="1" dirty="0" err="1">
                <a:latin typeface="Century Gothic" panose="020B0502020202020204" pitchFamily="34" charset="0"/>
              </a:rPr>
              <a:t>Defence</a:t>
            </a:r>
            <a:r>
              <a:rPr lang="en-US" sz="8000" b="1" dirty="0">
                <a:latin typeface="Century Gothic" panose="020B0502020202020204" pitchFamily="34" charset="0"/>
              </a:rPr>
              <a:t> Science and Technology Agency (DSTA)</a:t>
            </a:r>
            <a:endParaRPr lang="en-SG" sz="8000" b="1" dirty="0"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7528218"/>
            <a:ext cx="140931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>
                <a:latin typeface="Century Gothic" panose="020B0502020202020204" pitchFamily="34" charset="0"/>
              </a:rPr>
              <a:t>Student : Choy Ning Jun Dion </a:t>
            </a:r>
            <a:r>
              <a:rPr lang="en-SG" sz="36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I</a:t>
            </a:r>
            <a:r>
              <a:rPr lang="en-SG" sz="36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  </a:t>
            </a:r>
            <a:r>
              <a:rPr lang="en-SG" sz="3600" dirty="0">
                <a:latin typeface="Century Gothic" panose="020B0502020202020204" pitchFamily="34" charset="0"/>
              </a:rPr>
              <a:t>Class : DCPE/FT/3B/02</a:t>
            </a:r>
          </a:p>
          <a:p>
            <a:r>
              <a:rPr lang="en-SG" sz="3600" dirty="0">
                <a:latin typeface="Century Gothic" panose="020B0502020202020204" pitchFamily="34" charset="0"/>
              </a:rPr>
              <a:t>Company : </a:t>
            </a:r>
            <a:r>
              <a:rPr lang="en-US" sz="3600" dirty="0" err="1">
                <a:latin typeface="Century Gothic" panose="020B0502020202020204" pitchFamily="34" charset="0"/>
              </a:rPr>
              <a:t>Defence</a:t>
            </a:r>
            <a:r>
              <a:rPr lang="en-US" sz="3600" dirty="0">
                <a:latin typeface="Century Gothic" panose="020B0502020202020204" pitchFamily="34" charset="0"/>
              </a:rPr>
              <a:t> Science and Technology Agency (DSTA)</a:t>
            </a:r>
          </a:p>
          <a:p>
            <a:r>
              <a:rPr lang="en-SG" sz="3600" dirty="0">
                <a:latin typeface="Century Gothic" panose="020B0502020202020204" pitchFamily="34" charset="0"/>
              </a:rPr>
              <a:t>Company Supervisor : Mr Ng Wei Lun Waylon</a:t>
            </a:r>
          </a:p>
          <a:p>
            <a:r>
              <a:rPr lang="en-SG" sz="3600" dirty="0">
                <a:latin typeface="Century Gothic" panose="020B0502020202020204" pitchFamily="34" charset="0"/>
              </a:rPr>
              <a:t>LO : Ms Soo Bee Hong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1942" y="7071723"/>
            <a:ext cx="8635319" cy="19143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COMPANY PROFILE:</a:t>
            </a:r>
            <a:endParaRPr lang="en-US" altLang="en-US" sz="4400" dirty="0"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entury Gothic"/>
                <a:ea typeface="Adobe Gothic Std B"/>
              </a:rPr>
              <a:t> </a:t>
            </a:r>
            <a:r>
              <a:rPr lang="en-US" altLang="en-US" sz="2800" dirty="0">
                <a:latin typeface="Century Gothic"/>
                <a:ea typeface="Adobe Gothic Std B"/>
              </a:rPr>
              <a:t>The </a:t>
            </a:r>
            <a:r>
              <a:rPr lang="en-US" altLang="en-US" sz="2800" b="1" err="1">
                <a:latin typeface="Century Gothic"/>
                <a:ea typeface="Adobe Gothic Std B"/>
              </a:rPr>
              <a:t>Defence</a:t>
            </a:r>
            <a:r>
              <a:rPr lang="en-US" altLang="en-US" sz="2800" b="1" dirty="0">
                <a:latin typeface="Century Gothic"/>
                <a:ea typeface="Adobe Gothic Std B"/>
              </a:rPr>
              <a:t> Science and Technology Agency</a:t>
            </a:r>
            <a:r>
              <a:rPr lang="en-US" altLang="en-US" sz="2800" dirty="0">
                <a:latin typeface="Century Gothic"/>
                <a:ea typeface="Adobe Gothic Std B"/>
              </a:rPr>
              <a:t> (DSTA) is a technology organization crucial to the </a:t>
            </a:r>
            <a:r>
              <a:rPr lang="en-US" altLang="en-US" sz="2800" b="1" dirty="0">
                <a:latin typeface="Century Gothic"/>
                <a:ea typeface="Adobe Gothic Std B"/>
              </a:rPr>
              <a:t>security and </a:t>
            </a:r>
            <a:r>
              <a:rPr lang="en-US" altLang="en-US" sz="2800" b="1" err="1">
                <a:latin typeface="Century Gothic"/>
                <a:ea typeface="Adobe Gothic Std B"/>
              </a:rPr>
              <a:t>defence</a:t>
            </a:r>
            <a:r>
              <a:rPr lang="en-US" altLang="en-US" sz="2800" b="1" dirty="0">
                <a:latin typeface="Century Gothic"/>
                <a:ea typeface="Adobe Gothic Std B"/>
              </a:rPr>
              <a:t> of Singapore</a:t>
            </a:r>
            <a:r>
              <a:rPr lang="en-US" altLang="en-US" sz="2800" dirty="0">
                <a:latin typeface="Century Gothic"/>
                <a:ea typeface="Adobe Gothic Std B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Supports Singapore Armed Forces (SAF) and Singapore Ministry of </a:t>
            </a:r>
            <a:r>
              <a:rPr lang="en-US" altLang="en-US" sz="2800" dirty="0" err="1">
                <a:latin typeface="Century Gothic" panose="020B0502020202020204" pitchFamily="34" charset="0"/>
                <a:ea typeface="Adobe Gothic Std B" panose="020B0800000000000000" pitchFamily="34" charset="-128"/>
              </a:rPr>
              <a:t>Defence</a:t>
            </a: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(MINDEF) through the acquisition, development, and integration of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B0F0"/>
              </a:solidFill>
              <a:latin typeface="Century Gothic" panose="020B0502020202020204" pitchFamily="34" charset="0"/>
              <a:ea typeface="Adobe Gothic Std B" panose="020B0800000000000000" pitchFamily="34" charset="-128"/>
            </a:endParaRPr>
          </a:p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KEY AREAS OF RESPONSIBILITIES :</a:t>
            </a:r>
            <a:endParaRPr lang="en-US" altLang="en-US" sz="3200" dirty="0"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</a:t>
            </a:r>
            <a:r>
              <a:rPr lang="en-US" altLang="en-US" sz="2800" b="1" dirty="0">
                <a:latin typeface="Century Gothic"/>
                <a:ea typeface="Adobe Gothic Std B"/>
              </a:rPr>
              <a:t>Develop and engineer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Testing of RF technologies range tests of transmitters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</a:t>
            </a:r>
            <a:r>
              <a:rPr lang="en-US" altLang="en-US" sz="2800" b="1" dirty="0">
                <a:latin typeface="Century Gothic"/>
                <a:ea typeface="Adobe Gothic Std B"/>
              </a:rPr>
              <a:t>Design and verify hardware circuits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Observe trials and aid in the collection of RF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800" b="1" dirty="0">
              <a:solidFill>
                <a:srgbClr val="00B0F0"/>
              </a:solidFill>
              <a:latin typeface="Century Gothic" panose="020B0502020202020204" pitchFamily="34" charset="0"/>
              <a:ea typeface="Adobe Gothic Std B" panose="020B0800000000000000" pitchFamily="34" charset="-128"/>
            </a:endParaRPr>
          </a:p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ACHIEVEMENTS:</a:t>
            </a:r>
            <a:endParaRPr lang="en-US" altLang="en-US" sz="3200" dirty="0"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entury Gothic"/>
                <a:ea typeface="Adobe Gothic Std B"/>
              </a:rPr>
              <a:t> </a:t>
            </a:r>
            <a:r>
              <a:rPr lang="en-US" altLang="en-US" sz="2800" dirty="0">
                <a:latin typeface="Century Gothic"/>
                <a:ea typeface="Adobe Gothic Std B"/>
              </a:rPr>
              <a:t>Creation of </a:t>
            </a:r>
            <a:r>
              <a:rPr lang="en-US" altLang="en-US" sz="2800" b="1" dirty="0">
                <a:latin typeface="Century Gothic"/>
                <a:ea typeface="Adobe Gothic Std B"/>
              </a:rPr>
              <a:t>machine learning models</a:t>
            </a:r>
            <a:r>
              <a:rPr lang="en-US" altLang="en-US" sz="2800" dirty="0">
                <a:latin typeface="Century Gothic"/>
                <a:ea typeface="Adobe Gothic Std B"/>
              </a:rPr>
              <a:t> for anomaly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Assisted with the creation of </a:t>
            </a:r>
            <a:r>
              <a:rPr lang="en-US" altLang="en-US" sz="2800" b="1" dirty="0">
                <a:latin typeface="Century Gothic"/>
                <a:ea typeface="Adobe Gothic Std B"/>
              </a:rPr>
              <a:t>PCB for detecting radio frequency signals</a:t>
            </a:r>
          </a:p>
          <a:p>
            <a:endParaRPr lang="en-US" altLang="en-US" sz="3200" b="1" dirty="0">
              <a:latin typeface="Century Gothic" panose="020B0502020202020204" pitchFamily="34" charset="0"/>
              <a:ea typeface="Adobe Gothic Std B" panose="020B0800000000000000" pitchFamily="34" charset="-128"/>
            </a:endParaRPr>
          </a:p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INTERNSHIP EXPERIENCE: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Century Gothic"/>
                <a:ea typeface="Adobe Gothic Std B"/>
              </a:rPr>
              <a:t> </a:t>
            </a:r>
            <a:r>
              <a:rPr lang="en-US" altLang="en-US" sz="2800" dirty="0">
                <a:latin typeface="Century Gothic"/>
                <a:ea typeface="Adobe Gothic Std B"/>
              </a:rPr>
              <a:t>Throughout the internship, I had the opportunity to work on projects which can </a:t>
            </a:r>
            <a:r>
              <a:rPr lang="en-US" altLang="en-US" sz="2800" b="1" dirty="0">
                <a:latin typeface="Century Gothic"/>
                <a:ea typeface="Adobe Gothic Std B"/>
              </a:rPr>
              <a:t>contribute back to the company</a:t>
            </a:r>
            <a:r>
              <a:rPr lang="en-US" altLang="en-US" sz="2800" dirty="0">
                <a:latin typeface="Century Gothic"/>
                <a:ea typeface="Adobe Gothic Std B"/>
              </a:rPr>
              <a:t> by providing software and </a:t>
            </a:r>
            <a:r>
              <a:rPr lang="en-US" altLang="en-US" sz="2800">
                <a:latin typeface="Century Gothic"/>
                <a:ea typeface="Adobe Gothic Std B"/>
              </a:rPr>
              <a:t>hardware solutions to the identified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Such projects include the machine learning model and radio frequency signal detector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Outside of developing and engineering solution I had to </a:t>
            </a:r>
            <a:r>
              <a:rPr lang="en-US" altLang="en-US" sz="2800" b="1">
                <a:latin typeface="Century Gothic"/>
                <a:ea typeface="Adobe Gothic Std B"/>
              </a:rPr>
              <a:t>assist with testing of RF technologies</a:t>
            </a:r>
            <a:endParaRPr lang="en-US" altLang="en-US" sz="2800" dirty="0">
              <a:latin typeface="Century Gothic"/>
              <a:ea typeface="Adobe Gothic Std B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entury Gothic"/>
                <a:ea typeface="Adobe Gothic Std B"/>
              </a:rPr>
              <a:t> Attend DSTA events</a:t>
            </a:r>
            <a:r>
              <a:rPr lang="en-US" altLang="en-US" sz="2800" dirty="0">
                <a:latin typeface="Century Gothic"/>
                <a:ea typeface="Adobe Gothic Std B"/>
              </a:rPr>
              <a:t> like Intern Day and Learning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 Additionally, I was brought onto various sites such as the Changi Air Base to learn how equipment is set up, as well as aid in the collection of RF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42582" y="17026268"/>
            <a:ext cx="8635319" cy="100335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PROJECT TITLE  &amp; SYNOPSIS:</a:t>
            </a:r>
          </a:p>
          <a:p>
            <a:r>
              <a:rPr lang="en-US" altLang="en-US" sz="3200" b="1" dirty="0">
                <a:latin typeface="Century Gothic" panose="020B0502020202020204" pitchFamily="34" charset="0"/>
                <a:ea typeface="Adobe Gothic Std B" panose="020B0800000000000000" pitchFamily="34" charset="-128"/>
              </a:rPr>
              <a:t>Machine Learning for Spectrum Sensing</a:t>
            </a:r>
            <a:endParaRPr lang="en-US" altLang="en-US" sz="4400" b="1" dirty="0">
              <a:latin typeface="Century Gothic" panose="020B0502020202020204" pitchFamily="34" charset="0"/>
              <a:ea typeface="Adobe Gothic Std B" panose="020B0800000000000000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The radio frequency spectrum has become </a:t>
            </a:r>
            <a:r>
              <a:rPr lang="en-US" altLang="en-US" sz="2800" b="1" dirty="0">
                <a:latin typeface="Century Gothic"/>
                <a:ea typeface="Adobe Gothic Std B"/>
              </a:rPr>
              <a:t>more congested</a:t>
            </a:r>
            <a:r>
              <a:rPr lang="en-US" altLang="en-US" sz="2800" dirty="0">
                <a:latin typeface="Century Gothic"/>
                <a:ea typeface="Adobe Gothic Std B"/>
              </a:rPr>
              <a:t> in the urban landscape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There is a need to ensure that malicious agents </a:t>
            </a:r>
            <a:r>
              <a:rPr lang="en-US" altLang="en-US" sz="2800" b="1" dirty="0">
                <a:latin typeface="Century Gothic"/>
                <a:ea typeface="Adobe Gothic Std B"/>
              </a:rPr>
              <a:t>do not disrupt secure channels</a:t>
            </a:r>
            <a:r>
              <a:rPr lang="en-US" altLang="en-US" sz="2800" dirty="0">
                <a:latin typeface="Century Gothic"/>
                <a:ea typeface="Adobe Gothic Std B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Machine learning can be used to </a:t>
            </a:r>
            <a:r>
              <a:rPr lang="en-US" altLang="en-US" sz="2800" b="1" dirty="0">
                <a:latin typeface="Century Gothic"/>
                <a:ea typeface="Adobe Gothic Std B"/>
              </a:rPr>
              <a:t>identify the presence of anomalous signals</a:t>
            </a:r>
            <a:r>
              <a:rPr lang="en-US" altLang="en-US" sz="2800" dirty="0">
                <a:latin typeface="Century Gothic"/>
                <a:ea typeface="Adobe Gothic Std B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 b="1" dirty="0">
              <a:latin typeface="Century Gothic" panose="020B0502020202020204" pitchFamily="34" charset="0"/>
              <a:ea typeface="Adobe Gothic Std B" panose="020B0800000000000000" pitchFamily="34" charset="-128"/>
            </a:endParaRPr>
          </a:p>
          <a:p>
            <a:r>
              <a:rPr lang="en-US" altLang="en-US" sz="5400" b="1" dirty="0">
                <a:solidFill>
                  <a:srgbClr val="FF5B19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>REFLECTIONS: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From the internship, I was able to expand upon knowledge learnt at SP for the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I had the chance to </a:t>
            </a:r>
            <a:r>
              <a:rPr lang="en-US" altLang="en-US" sz="2800" b="1" dirty="0">
                <a:latin typeface="Century Gothic"/>
                <a:ea typeface="Adobe Gothic Std B"/>
              </a:rPr>
              <a:t>improve technical skills </a:t>
            </a:r>
            <a:r>
              <a:rPr lang="en-US" altLang="en-US" sz="2800" dirty="0">
                <a:latin typeface="Century Gothic"/>
                <a:ea typeface="Adobe Gothic Std B"/>
              </a:rPr>
              <a:t>through projects where I </a:t>
            </a:r>
            <a:r>
              <a:rPr lang="en-US" altLang="en-US" sz="2800" b="1" dirty="0">
                <a:latin typeface="Century Gothic"/>
                <a:ea typeface="Adobe Gothic Std B"/>
              </a:rPr>
              <a:t>applied the CDIO framework</a:t>
            </a:r>
            <a:r>
              <a:rPr lang="en-US" altLang="en-US" sz="2800" dirty="0">
                <a:latin typeface="Century Gothic"/>
                <a:ea typeface="Adobe Gothic Std B"/>
              </a:rPr>
              <a:t> to assist in its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entury Gothic"/>
                <a:ea typeface="Adobe Gothic Std B"/>
              </a:rPr>
              <a:t> I also had the opportunity to </a:t>
            </a:r>
            <a:r>
              <a:rPr lang="en-US" altLang="en-US" sz="2800" b="1" dirty="0">
                <a:latin typeface="Century Gothic"/>
                <a:ea typeface="Adobe Gothic Std B"/>
              </a:rPr>
              <a:t>improve soft skills like communication and collaboration </a:t>
            </a:r>
            <a:r>
              <a:rPr lang="en-US" altLang="en-US" sz="2800" dirty="0">
                <a:latin typeface="Century Gothic"/>
                <a:ea typeface="Adobe Gothic Std B"/>
              </a:rPr>
              <a:t>by working with others and assisting with projects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800" dirty="0">
              <a:latin typeface="Century Gothic" panose="020B0502020202020204" pitchFamily="34" charset="0"/>
              <a:ea typeface="Adobe Gothic Std B" panose="020B0800000000000000" pitchFamily="34" charset="-12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FB4537-3929-D7FA-4986-0B9E829E57B0}"/>
              </a:ext>
            </a:extLst>
          </p:cNvPr>
          <p:cNvGrpSpPr/>
          <p:nvPr/>
        </p:nvGrpSpPr>
        <p:grpSpPr>
          <a:xfrm>
            <a:off x="11037060" y="4998622"/>
            <a:ext cx="3319821" cy="1730797"/>
            <a:chOff x="11037060" y="4998622"/>
            <a:chExt cx="3319821" cy="1730797"/>
          </a:xfrm>
        </p:grpSpPr>
        <p:sp>
          <p:nvSpPr>
            <p:cNvPr id="29" name="Rounded Rectangle 28"/>
            <p:cNvSpPr/>
            <p:nvPr/>
          </p:nvSpPr>
          <p:spPr>
            <a:xfrm>
              <a:off x="11037060" y="4998622"/>
              <a:ext cx="3319821" cy="1730797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3600" dirty="0">
                <a:solidFill>
                  <a:schemeClr val="tx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709ECDE-4939-51AE-77CC-EDA4FC95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54342" y="5037177"/>
              <a:ext cx="2962275" cy="1504950"/>
            </a:xfrm>
            <a:prstGeom prst="rect">
              <a:avLst/>
            </a:prstGeom>
          </p:spPr>
        </p:pic>
      </p:grpSp>
      <p:pic>
        <p:nvPicPr>
          <p:cNvPr id="19" name="Picture 4">
            <a:extLst>
              <a:ext uri="{FF2B5EF4-FFF2-40B4-BE49-F238E27FC236}">
                <a16:creationId xmlns:a16="http://schemas.microsoft.com/office/drawing/2014/main" id="{45CD5EA4-334B-0ACE-9A7A-4B91D5C09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1517" r="118" b="22301"/>
          <a:stretch>
            <a:fillRect/>
          </a:stretch>
        </p:blipFill>
        <p:spPr bwMode="auto">
          <a:xfrm rot="20760000">
            <a:off x="10664378" y="8984884"/>
            <a:ext cx="5427978" cy="30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Two men sitting at a picnic table&#10;&#10;AI-generated content may be incorrect.">
            <a:extLst>
              <a:ext uri="{FF2B5EF4-FFF2-40B4-BE49-F238E27FC236}">
                <a16:creationId xmlns:a16="http://schemas.microsoft.com/office/drawing/2014/main" id="{16149832-A7D3-2E69-02AF-0EDC5856C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13539316" y="11442270"/>
            <a:ext cx="6453258" cy="48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600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5018</TotalTime>
  <Words>395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Tanya Goh</dc:creator>
  <cp:lastModifiedBy>CHOY NING JUN DION</cp:lastModifiedBy>
  <cp:revision>221</cp:revision>
  <cp:lastPrinted>2017-07-04T00:27:22Z</cp:lastPrinted>
  <dcterms:created xsi:type="dcterms:W3CDTF">2011-11-24T10:03:41Z</dcterms:created>
  <dcterms:modified xsi:type="dcterms:W3CDTF">2026-02-09T02:59:27Z</dcterms:modified>
</cp:coreProperties>
</file>