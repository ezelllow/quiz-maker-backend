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
    <p:bg>
      <p:bgPr>
        <a:solidFill>
          <a:srgbClr val="FBF8F4"/>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B5673A"/>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365760" cy="6858000"/>
          </a:xfrm>
          <a:prstGeom prst="rect">
            <a:avLst/>
          </a:prstGeom>
          <a:solidFill>
            <a:srgbClr val="B5673A"/>
          </a:solidFill>
          <a:ln/>
        </p:spPr>
      </p:sp>
      <p:pic>
        <p:nvPicPr>
          <p:cNvPr id="3" name="Image 0" descr="/sessions/kind-inspiring-mendel/mnt/quizMaker/curious_logo.png">    </p:cNvPr>
          <p:cNvPicPr>
            <a:picLocks noChangeAspect="1"/>
          </p:cNvPicPr>
          <p:nvPr/>
        </p:nvPicPr>
        <p:blipFill>
          <a:blip r:embed="rId1"/>
          <a:stretch>
            <a:fillRect/>
          </a:stretch>
        </p:blipFill>
        <p:spPr>
          <a:xfrm>
            <a:off x="10698480" y="457200"/>
            <a:ext cx="960120" cy="960120"/>
          </a:xfrm>
          <a:prstGeom prst="rect">
            <a:avLst/>
          </a:prstGeom>
        </p:spPr>
      </p:pic>
      <p:sp>
        <p:nvSpPr>
          <p:cNvPr id="4" name="Text 1"/>
          <p:cNvSpPr/>
          <p:nvPr/>
        </p:nvSpPr>
        <p:spPr>
          <a:xfrm>
            <a:off x="731520" y="1691640"/>
            <a:ext cx="10698480" cy="1554480"/>
          </a:xfrm>
          <a:prstGeom prst="rect">
            <a:avLst/>
          </a:prstGeom>
          <a:noFill/>
          <a:ln/>
        </p:spPr>
        <p:txBody>
          <a:bodyPr wrap="square" rtlCol="0" anchor="ctr"/>
          <a:lstStyle/>
          <a:p>
            <a:pPr algn="ctr" indent="0" marL="0">
              <a:buNone/>
            </a:pPr>
            <a:r>
              <a:rPr lang="en-US" sz="9600" b="1" dirty="0">
                <a:solidFill>
                  <a:srgbClr val="B5673A"/>
                </a:solidFill>
                <a:latin typeface="Segoe UI Semibold" pitchFamily="34" charset="0"/>
                <a:ea typeface="Segoe UI Semibold" pitchFamily="34" charset="-122"/>
                <a:cs typeface="Segoe UI Semibold" pitchFamily="34" charset="-120"/>
              </a:rPr>
              <a:t>INTERNSHIP</a:t>
            </a:r>
            <a:endParaRPr lang="en-US" sz="9600" dirty="0"/>
          </a:p>
        </p:txBody>
      </p:sp>
      <p:sp>
        <p:nvSpPr>
          <p:cNvPr id="5" name="Text 2"/>
          <p:cNvSpPr/>
          <p:nvPr/>
        </p:nvSpPr>
        <p:spPr>
          <a:xfrm>
            <a:off x="1188720" y="3474720"/>
            <a:ext cx="9784080" cy="548640"/>
          </a:xfrm>
          <a:prstGeom prst="rect">
            <a:avLst/>
          </a:prstGeom>
          <a:noFill/>
          <a:ln/>
        </p:spPr>
        <p:txBody>
          <a:bodyPr wrap="square" rtlCol="0" anchor="ctr"/>
          <a:lstStyle/>
          <a:p>
            <a:pPr algn="ctr" indent="0" marL="0">
              <a:buNone/>
            </a:pPr>
            <a:r>
              <a:rPr lang="en-US" sz="1900" i="1" dirty="0">
                <a:solidFill>
                  <a:srgbClr val="262626"/>
                </a:solidFill>
                <a:latin typeface="Segoe UI" pitchFamily="34" charset="0"/>
                <a:ea typeface="Segoe UI" pitchFamily="34" charset="-122"/>
                <a:cs typeface="Segoe UI" pitchFamily="34" charset="-120"/>
              </a:rPr>
              <a:t>A Gamified Study-Habit App Powered by an Exam-Paper Extraction Pipeline</a:t>
            </a:r>
            <a:endParaRPr lang="en-US" sz="1900" dirty="0"/>
          </a:p>
        </p:txBody>
      </p:sp>
      <p:sp>
        <p:nvSpPr>
          <p:cNvPr id="6" name="Shape 3"/>
          <p:cNvSpPr/>
          <p:nvPr/>
        </p:nvSpPr>
        <p:spPr>
          <a:xfrm>
            <a:off x="4270248" y="4279392"/>
            <a:ext cx="3657600" cy="45720"/>
          </a:xfrm>
          <a:prstGeom prst="rect">
            <a:avLst/>
          </a:prstGeom>
          <a:solidFill>
            <a:srgbClr val="B5673A"/>
          </a:solidFill>
          <a:ln/>
        </p:spPr>
      </p:sp>
      <p:sp>
        <p:nvSpPr>
          <p:cNvPr id="7" name="Text 4"/>
          <p:cNvSpPr/>
          <p:nvPr/>
        </p:nvSpPr>
        <p:spPr>
          <a:xfrm>
            <a:off x="1188720" y="4800600"/>
            <a:ext cx="9784080" cy="1737360"/>
          </a:xfrm>
          <a:prstGeom prst="rect">
            <a:avLst/>
          </a:prstGeom>
          <a:noFill/>
          <a:ln/>
        </p:spPr>
        <p:txBody>
          <a:bodyPr wrap="square" rtlCol="0" anchor="t"/>
          <a:lstStyle/>
          <a:p>
            <a:pPr algn="ctr" indent="0" marL="0">
              <a:spcAft>
                <a:spcPts val="2200"/>
              </a:spcAft>
              <a:buNone/>
            </a:pPr>
            <a:r>
              <a:rPr lang="en-US" sz="2400" b="1" dirty="0">
                <a:solidFill>
                  <a:srgbClr val="262626"/>
                </a:solidFill>
                <a:latin typeface="Segoe UI" pitchFamily="34" charset="0"/>
                <a:ea typeface="Segoe UI" pitchFamily="34" charset="-122"/>
                <a:cs typeface="Segoe UI" pitchFamily="34" charset="-120"/>
              </a:rPr>
              <a:t>Ezell Low Qing Wei</a:t>
            </a:r>
            <a:endParaRPr lang="en-US" sz="2400" dirty="0"/>
          </a:p>
          <a:p>
            <a:pPr algn="ctr" indent="0" marL="0">
              <a:spcAft>
                <a:spcPts val="2200"/>
              </a:spcAft>
              <a:buNone/>
            </a:pPr>
            <a:r>
              <a:rPr lang="en-US" sz="1600" dirty="0">
                <a:solidFill>
                  <a:srgbClr val="6B6B6B"/>
                </a:solidFill>
                <a:latin typeface="Segoe UI" pitchFamily="34" charset="0"/>
                <a:ea typeface="Segoe UI" pitchFamily="34" charset="-122"/>
                <a:cs typeface="Segoe UI" pitchFamily="34" charset="-120"/>
              </a:rPr>
              <a:t>DCPE/FT/3B/99      ·      Diploma in Computer Engineering</a:t>
            </a:r>
            <a:endParaRPr lang="en-US" sz="2400" dirty="0"/>
          </a:p>
          <a:p>
            <a:pPr algn="ctr" indent="0" marL="0">
              <a:buNone/>
            </a:pPr>
            <a:r>
              <a:rPr lang="en-US" sz="1600" dirty="0">
                <a:solidFill>
                  <a:srgbClr val="262626"/>
                </a:solidFill>
                <a:latin typeface="Segoe UI" pitchFamily="34" charset="0"/>
                <a:ea typeface="Segoe UI" pitchFamily="34" charset="-122"/>
                <a:cs typeface="Segoe UI" pitchFamily="34" charset="-120"/>
              </a:rPr>
              <a:t>Curious Lab   (Educational Technology)</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COMPANY BACKGROUND</a:t>
            </a:r>
            <a:endParaRPr lang="en-US" sz="1300" dirty="0"/>
          </a:p>
        </p:txBody>
      </p:sp>
      <p:sp>
        <p:nvSpPr>
          <p:cNvPr id="3" name="Shape 1"/>
          <p:cNvSpPr/>
          <p:nvPr/>
        </p:nvSpPr>
        <p:spPr>
          <a:xfrm>
            <a:off x="566928" y="731520"/>
            <a:ext cx="502920" cy="45720"/>
          </a:xfrm>
          <a:prstGeom prst="rect">
            <a:avLst/>
          </a:prstGeom>
          <a:solidFill>
            <a:srgbClr val="B5673A"/>
          </a:solidFill>
          <a:ln/>
        </p:spPr>
      </p:sp>
      <p:pic>
        <p:nvPicPr>
          <p:cNvPr id="4" name="Image 0" descr="/sessions/kind-inspiring-mendel/mnt/quizMaker/curious_logo.png">    </p:cNvPr>
          <p:cNvPicPr>
            <a:picLocks noChangeAspect="1"/>
          </p:cNvPicPr>
          <p:nvPr/>
        </p:nvPicPr>
        <p:blipFill>
          <a:blip r:embed="rId1"/>
          <a:stretch>
            <a:fillRect/>
          </a:stretch>
        </p:blipFill>
        <p:spPr>
          <a:xfrm>
            <a:off x="11018520" y="320040"/>
            <a:ext cx="777240" cy="777240"/>
          </a:xfrm>
          <a:prstGeom prst="rect">
            <a:avLst/>
          </a:prstGeom>
        </p:spPr>
      </p:pic>
      <p:sp>
        <p:nvSpPr>
          <p:cNvPr id="5" name="Text 2"/>
          <p:cNvSpPr/>
          <p:nvPr/>
        </p:nvSpPr>
        <p:spPr>
          <a:xfrm>
            <a:off x="548640" y="914400"/>
            <a:ext cx="7315200" cy="548640"/>
          </a:xfrm>
          <a:prstGeom prst="rect">
            <a:avLst/>
          </a:prstGeom>
          <a:noFill/>
          <a:ln/>
        </p:spPr>
        <p:txBody>
          <a:bodyPr wrap="square" rtlCol="0" anchor="ctr"/>
          <a:lstStyle/>
          <a:p>
            <a:pPr indent="0" marL="0">
              <a:buNone/>
            </a:pPr>
            <a:r>
              <a:rPr lang="en-US" sz="3000" b="1" dirty="0">
                <a:solidFill>
                  <a:srgbClr val="262626"/>
                </a:solidFill>
                <a:latin typeface="Segoe UI Semibold" pitchFamily="34" charset="0"/>
                <a:ea typeface="Segoe UI Semibold" pitchFamily="34" charset="-122"/>
                <a:cs typeface="Segoe UI Semibold" pitchFamily="34" charset="-120"/>
              </a:rPr>
              <a:t>Curious Lab Pte. Ltd.</a:t>
            </a:r>
            <a:endParaRPr lang="en-US" sz="3000" dirty="0"/>
          </a:p>
        </p:txBody>
      </p:sp>
      <p:sp>
        <p:nvSpPr>
          <p:cNvPr id="6" name="Text 3"/>
          <p:cNvSpPr/>
          <p:nvPr/>
        </p:nvSpPr>
        <p:spPr>
          <a:xfrm>
            <a:off x="548640" y="1600200"/>
            <a:ext cx="6858000" cy="4754880"/>
          </a:xfrm>
          <a:prstGeom prst="rect">
            <a:avLst/>
          </a:prstGeom>
          <a:noFill/>
          <a:ln/>
        </p:spPr>
        <p:txBody>
          <a:bodyPr wrap="square" rtlCol="0" anchor="t"/>
          <a:lstStyle/>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A Singapore educational-technology (EdTech) company that builds digital tools to help students study more effectively.</a:t>
            </a:r>
            <a:endParaRPr lang="en-US" sz="1600" dirty="0"/>
          </a:p>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Grew out of tuition teaching, and the founder still teaches classes, so products are shaped by how students actually behave.</a:t>
            </a:r>
            <a:endParaRPr lang="en-US" sz="1600" dirty="0"/>
          </a:p>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Building towards an ecosystem of learning products rather than a single tool, including planned parent report cards and teacher analytics.</a:t>
            </a:r>
            <a:endParaRPr lang="en-US" sz="1600" dirty="0"/>
          </a:p>
        </p:txBody>
      </p:sp>
      <p:sp>
        <p:nvSpPr>
          <p:cNvPr id="7" name="Text 4"/>
          <p:cNvSpPr/>
          <p:nvPr/>
        </p:nvSpPr>
        <p:spPr>
          <a:xfrm>
            <a:off x="548640" y="397764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BUSINESS MODEL &amp; CULTURE</a:t>
            </a:r>
            <a:endParaRPr lang="en-US" sz="1100" dirty="0"/>
          </a:p>
        </p:txBody>
      </p:sp>
      <p:sp>
        <p:nvSpPr>
          <p:cNvPr id="8" name="Text 5"/>
          <p:cNvSpPr/>
          <p:nvPr/>
        </p:nvSpPr>
        <p:spPr>
          <a:xfrm>
            <a:off x="548640" y="4343400"/>
            <a:ext cx="6858000" cy="4754880"/>
          </a:xfrm>
          <a:prstGeom prst="rect">
            <a:avLst/>
          </a:prstGeom>
          <a:noFill/>
          <a:ln/>
        </p:spPr>
        <p:txBody>
          <a:bodyPr wrap="square" rtlCol="0" anchor="t"/>
          <a:lstStyle/>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Business model is subscription access, sold to private-tuition students and parents, with a longer-term goal of selling into MOE schools.</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Culture is small and lean, with no approval chains, so decisions are made in days.</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High autonomy, and because the founder still teaches, an idea can go from a conversation to a live class within the same week.</a:t>
            </a:r>
            <a:endParaRPr lang="en-US" sz="1400" dirty="0"/>
          </a:p>
        </p:txBody>
      </p:sp>
      <p:pic>
        <p:nvPicPr>
          <p:cNvPr id="9" name="Image 1" descr="/sessions/kind-inspiring-mendel/mnt/quizMaker/curious_logo.png">    </p:cNvPr>
          <p:cNvPicPr>
            <a:picLocks noChangeAspect="1"/>
          </p:cNvPicPr>
          <p:nvPr/>
        </p:nvPicPr>
        <p:blipFill>
          <a:blip r:embed="rId2"/>
          <a:stretch>
            <a:fillRect/>
          </a:stretch>
        </p:blipFill>
        <p:spPr>
          <a:xfrm>
            <a:off x="8778240" y="2194560"/>
            <a:ext cx="2743200" cy="2743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THE INDUSTRY &amp; CAREERS</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Shape 2"/>
          <p:cNvSpPr/>
          <p:nvPr/>
        </p:nvSpPr>
        <p:spPr>
          <a:xfrm>
            <a:off x="0" y="960120"/>
            <a:ext cx="12191695" cy="566928"/>
          </a:xfrm>
          <a:prstGeom prst="rect">
            <a:avLst/>
          </a:prstGeom>
          <a:solidFill>
            <a:srgbClr val="262626"/>
          </a:solidFill>
          <a:ln/>
        </p:spPr>
      </p:sp>
      <p:sp>
        <p:nvSpPr>
          <p:cNvPr id="5" name="Text 3"/>
          <p:cNvSpPr/>
          <p:nvPr/>
        </p:nvSpPr>
        <p:spPr>
          <a:xfrm>
            <a:off x="457200" y="960120"/>
            <a:ext cx="11247120" cy="566928"/>
          </a:xfrm>
          <a:prstGeom prst="rect">
            <a:avLst/>
          </a:prstGeom>
          <a:noFill/>
          <a:ln/>
        </p:spPr>
        <p:txBody>
          <a:bodyPr wrap="square"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Singapore's private tuition market is worth S$1.8 billion a year, with 70%+ of students tutored</a:t>
            </a:r>
            <a:endParaRPr lang="en-US" sz="1600" dirty="0"/>
          </a:p>
        </p:txBody>
      </p:sp>
      <p:sp>
        <p:nvSpPr>
          <p:cNvPr id="6" name="Text 4"/>
          <p:cNvSpPr/>
          <p:nvPr/>
        </p:nvSpPr>
        <p:spPr>
          <a:xfrm>
            <a:off x="548640" y="182880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WHO CURIOUS LAB COMPETES WITH</a:t>
            </a:r>
            <a:endParaRPr lang="en-US" sz="1100" dirty="0"/>
          </a:p>
        </p:txBody>
      </p:sp>
      <p:sp>
        <p:nvSpPr>
          <p:cNvPr id="7" name="Text 5"/>
          <p:cNvSpPr/>
          <p:nvPr/>
        </p:nvSpPr>
        <p:spPr>
          <a:xfrm>
            <a:off x="548640" y="2194560"/>
            <a:ext cx="6858000" cy="4754880"/>
          </a:xfrm>
          <a:prstGeom prst="rect">
            <a:avLst/>
          </a:prstGeom>
          <a:noFill/>
          <a:ln/>
        </p:spPr>
        <p:txBody>
          <a:bodyPr wrap="square" rtlCol="0" anchor="t"/>
          <a:lstStyle/>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Geniebook, AI worksheets and live classes (~US$18M funded).</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KooBits, gamified primary maths (closest to our P6 Math).</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1,000+ tuition centres, and free general-purpose AI tools.</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MOE's Student Learning Space (SLS), a competitor and a route into schools.</a:t>
            </a:r>
            <a:endParaRPr lang="en-US" sz="1350" dirty="0"/>
          </a:p>
        </p:txBody>
      </p:sp>
      <p:sp>
        <p:nvSpPr>
          <p:cNvPr id="8" name="Text 6"/>
          <p:cNvSpPr/>
          <p:nvPr/>
        </p:nvSpPr>
        <p:spPr>
          <a:xfrm>
            <a:off x="548640" y="416052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COMPANY CAREER PATH</a:t>
            </a:r>
            <a:endParaRPr lang="en-US" sz="1100" dirty="0"/>
          </a:p>
        </p:txBody>
      </p:sp>
      <p:sp>
        <p:nvSpPr>
          <p:cNvPr id="9" name="Text 7"/>
          <p:cNvSpPr/>
          <p:nvPr/>
        </p:nvSpPr>
        <p:spPr>
          <a:xfrm>
            <a:off x="548640" y="4526280"/>
            <a:ext cx="6858000" cy="4754880"/>
          </a:xfrm>
          <a:prstGeom prst="rect">
            <a:avLst/>
          </a:prstGeom>
          <a:noFill/>
          <a:ln/>
        </p:spPr>
        <p:txBody>
          <a:bodyPr wrap="square" rtlCol="0" anchor="t"/>
          <a:lstStyle/>
          <a:p>
            <a:pPr marL="177800" indent="-177800">
              <a:lnSpc>
                <a:spcPct val="104000"/>
              </a:lnSpc>
              <a:spcAft>
                <a:spcPts val="700"/>
              </a:spcAft>
              <a:buSzPct val="100000"/>
              <a:buChar char="•"/>
            </a:pPr>
            <a:r>
              <a:rPr lang="en-US" sz="1300" dirty="0">
                <a:solidFill>
                  <a:srgbClr val="262626"/>
                </a:solidFill>
                <a:latin typeface="Segoe UI" pitchFamily="34" charset="0"/>
                <a:ea typeface="Segoe UI" pitchFamily="34" charset="-122"/>
                <a:cs typeface="Segoe UI" pitchFamily="34" charset="-120"/>
              </a:rPr>
              <a:t>As a small company there is no formal HR or graduate pipeline, so hiring is based on demonstrated coding and AI ability and on fit.</a:t>
            </a:r>
            <a:endParaRPr lang="en-US" sz="1300" dirty="0"/>
          </a:p>
          <a:p>
            <a:pPr marL="177800" indent="-177800">
              <a:lnSpc>
                <a:spcPct val="104000"/>
              </a:lnSpc>
              <a:spcAft>
                <a:spcPts val="700"/>
              </a:spcAft>
              <a:buSzPct val="100000"/>
              <a:buChar char="•"/>
            </a:pPr>
            <a:r>
              <a:rPr lang="en-US" sz="1300" dirty="0">
                <a:solidFill>
                  <a:srgbClr val="262626"/>
                </a:solidFill>
                <a:latin typeface="Segoe UI" pitchFamily="34" charset="0"/>
                <a:ea typeface="Segoe UI" pitchFamily="34" charset="-122"/>
                <a:cs typeface="Segoe UI" pitchFamily="34" charset="-120"/>
              </a:rPr>
              <a:t>In my case I joined through a referral from a former teacher, though that is only one way in.</a:t>
            </a:r>
            <a:endParaRPr lang="en-US" sz="1300" dirty="0"/>
          </a:p>
          <a:p>
            <a:pPr marL="177800" indent="-177800">
              <a:lnSpc>
                <a:spcPct val="104000"/>
              </a:lnSpc>
              <a:spcAft>
                <a:spcPts val="700"/>
              </a:spcAft>
              <a:buSzPct val="100000"/>
              <a:buChar char="•"/>
            </a:pPr>
            <a:r>
              <a:rPr lang="en-US" sz="1300" dirty="0">
                <a:solidFill>
                  <a:srgbClr val="262626"/>
                </a:solidFill>
                <a:latin typeface="Segoe UI" pitchFamily="34" charset="0"/>
                <a:ea typeface="Segoe UI" pitchFamily="34" charset="-122"/>
                <a:cs typeface="Segoe UI" pitchFamily="34" charset="-120"/>
              </a:rPr>
              <a:t>Growth is measured in ownership rather than a job ladder, so a junior can go from a single script to owning a whole product.</a:t>
            </a:r>
            <a:endParaRPr lang="en-US" sz="1300" dirty="0"/>
          </a:p>
        </p:txBody>
      </p:sp>
      <p:sp>
        <p:nvSpPr>
          <p:cNvPr id="10" name="Shape 8"/>
          <p:cNvSpPr/>
          <p:nvPr/>
        </p:nvSpPr>
        <p:spPr>
          <a:xfrm>
            <a:off x="8686800" y="2103120"/>
            <a:ext cx="2926080" cy="1097280"/>
          </a:xfrm>
          <a:prstGeom prst="roundRect">
            <a:avLst>
              <a:gd name="adj" fmla="val 6667"/>
            </a:avLst>
          </a:prstGeom>
          <a:solidFill>
            <a:srgbClr val="FFFFFF"/>
          </a:solidFill>
          <a:ln w="15875">
            <a:solidFill>
              <a:srgbClr val="B5673A"/>
            </a:solidFill>
            <a:prstDash val="solid"/>
          </a:ln>
        </p:spPr>
      </p:sp>
      <p:sp>
        <p:nvSpPr>
          <p:cNvPr id="11" name="Text 9"/>
          <p:cNvSpPr/>
          <p:nvPr/>
        </p:nvSpPr>
        <p:spPr>
          <a:xfrm>
            <a:off x="8686800" y="2194560"/>
            <a:ext cx="2926080" cy="566928"/>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S$1.8B</a:t>
            </a:r>
            <a:endParaRPr lang="en-US" sz="2600" dirty="0"/>
          </a:p>
        </p:txBody>
      </p:sp>
      <p:sp>
        <p:nvSpPr>
          <p:cNvPr id="12" name="Text 10"/>
          <p:cNvSpPr/>
          <p:nvPr/>
        </p:nvSpPr>
        <p:spPr>
          <a:xfrm>
            <a:off x="8686800" y="2761488"/>
            <a:ext cx="292608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tuition market</a:t>
            </a:r>
            <a:endParaRPr lang="en-US" sz="1200" dirty="0"/>
          </a:p>
        </p:txBody>
      </p:sp>
      <p:sp>
        <p:nvSpPr>
          <p:cNvPr id="13" name="Shape 11"/>
          <p:cNvSpPr/>
          <p:nvPr/>
        </p:nvSpPr>
        <p:spPr>
          <a:xfrm>
            <a:off x="8686800" y="3429000"/>
            <a:ext cx="2926080" cy="1097280"/>
          </a:xfrm>
          <a:prstGeom prst="roundRect">
            <a:avLst>
              <a:gd name="adj" fmla="val 6667"/>
            </a:avLst>
          </a:prstGeom>
          <a:solidFill>
            <a:srgbClr val="FFFFFF"/>
          </a:solidFill>
          <a:ln w="15875">
            <a:solidFill>
              <a:srgbClr val="B5673A"/>
            </a:solidFill>
            <a:prstDash val="solid"/>
          </a:ln>
        </p:spPr>
      </p:sp>
      <p:sp>
        <p:nvSpPr>
          <p:cNvPr id="14" name="Text 12"/>
          <p:cNvSpPr/>
          <p:nvPr/>
        </p:nvSpPr>
        <p:spPr>
          <a:xfrm>
            <a:off x="8686800" y="3520440"/>
            <a:ext cx="2926080" cy="566928"/>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360</a:t>
            </a:r>
            <a:endParaRPr lang="en-US" sz="2600" dirty="0"/>
          </a:p>
        </p:txBody>
      </p:sp>
      <p:sp>
        <p:nvSpPr>
          <p:cNvPr id="15" name="Text 13"/>
          <p:cNvSpPr/>
          <p:nvPr/>
        </p:nvSpPr>
        <p:spPr>
          <a:xfrm>
            <a:off x="8686800" y="4087368"/>
            <a:ext cx="292608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MOE schools by 2030</a:t>
            </a:r>
            <a:endParaRPr lang="en-US" sz="1200" dirty="0"/>
          </a:p>
        </p:txBody>
      </p:sp>
      <p:sp>
        <p:nvSpPr>
          <p:cNvPr id="16" name="Shape 14"/>
          <p:cNvSpPr/>
          <p:nvPr/>
        </p:nvSpPr>
        <p:spPr>
          <a:xfrm>
            <a:off x="8686800" y="4754880"/>
            <a:ext cx="2926080" cy="1097280"/>
          </a:xfrm>
          <a:prstGeom prst="roundRect">
            <a:avLst>
              <a:gd name="adj" fmla="val 6667"/>
            </a:avLst>
          </a:prstGeom>
          <a:solidFill>
            <a:srgbClr val="FFFFFF"/>
          </a:solidFill>
          <a:ln w="15875">
            <a:solidFill>
              <a:srgbClr val="B5673A"/>
            </a:solidFill>
            <a:prstDash val="solid"/>
          </a:ln>
        </p:spPr>
      </p:sp>
      <p:sp>
        <p:nvSpPr>
          <p:cNvPr id="17" name="Text 15"/>
          <p:cNvSpPr/>
          <p:nvPr/>
        </p:nvSpPr>
        <p:spPr>
          <a:xfrm>
            <a:off x="8686800" y="4846320"/>
            <a:ext cx="2926080" cy="566928"/>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5</a:t>
            </a:r>
            <a:endParaRPr lang="en-US" sz="2600" dirty="0"/>
          </a:p>
        </p:txBody>
      </p:sp>
      <p:sp>
        <p:nvSpPr>
          <p:cNvPr id="18" name="Text 16"/>
          <p:cNvSpPr/>
          <p:nvPr/>
        </p:nvSpPr>
        <p:spPr>
          <a:xfrm>
            <a:off x="8686800" y="5413248"/>
            <a:ext cx="292608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levels I shipped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OVERVIEW</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914400"/>
            <a:ext cx="10972800" cy="457200"/>
          </a:xfrm>
          <a:prstGeom prst="rect">
            <a:avLst/>
          </a:prstGeom>
          <a:noFill/>
          <a:ln/>
        </p:spPr>
        <p:txBody>
          <a:bodyPr wrap="square" rtlCol="0" anchor="ctr"/>
          <a:lstStyle/>
          <a:p>
            <a:pPr indent="0" marL="0">
              <a:buNone/>
            </a:pPr>
            <a:r>
              <a:rPr lang="en-US" sz="2200" b="1" dirty="0">
                <a:solidFill>
                  <a:srgbClr val="262626"/>
                </a:solidFill>
                <a:latin typeface="Segoe UI Semibold" pitchFamily="34" charset="0"/>
                <a:ea typeface="Segoe UI Semibold" pitchFamily="34" charset="-122"/>
                <a:cs typeface="Segoe UI Semibold" pitchFamily="34" charset="-120"/>
              </a:rPr>
              <a:t>What I did during my internship</a:t>
            </a:r>
            <a:endParaRPr lang="en-US" sz="2200" dirty="0"/>
          </a:p>
        </p:txBody>
      </p:sp>
      <p:sp>
        <p:nvSpPr>
          <p:cNvPr id="5" name="Text 3"/>
          <p:cNvSpPr/>
          <p:nvPr/>
        </p:nvSpPr>
        <p:spPr>
          <a:xfrm>
            <a:off x="548640" y="1463040"/>
            <a:ext cx="11109960" cy="1234440"/>
          </a:xfrm>
          <a:prstGeom prst="rect">
            <a:avLst/>
          </a:prstGeom>
          <a:noFill/>
          <a:ln/>
        </p:spPr>
        <p:txBody>
          <a:bodyPr wrap="square" rtlCol="0" anchor="t"/>
          <a:lstStyle/>
          <a:p>
            <a:pPr indent="0" marL="0">
              <a:lnSpc>
                <a:spcPct val="105000"/>
              </a:lnSpc>
              <a:buNone/>
            </a:pPr>
            <a:r>
              <a:rPr lang="en-US" sz="1500" dirty="0">
                <a:solidFill>
                  <a:srgbClr val="262626"/>
                </a:solidFill>
                <a:latin typeface="Segoe UI" pitchFamily="34" charset="0"/>
                <a:ea typeface="Segoe UI" pitchFamily="34" charset="-122"/>
                <a:cs typeface="Segoe UI" pitchFamily="34" charset="-120"/>
              </a:rPr>
              <a:t>Ooka is a gamified study app built on real examination questions. Working with the founder and my supervisor, I helped shape the idea from a problem they saw in class, then designed and built the whole system over 22 weeks, an automated pipeline that turns exam papers into a question bank and an app that gives students instant feedback, and deployed it for students to use.</a:t>
            </a:r>
            <a:endParaRPr lang="en-US" sz="1500" dirty="0"/>
          </a:p>
        </p:txBody>
      </p:sp>
      <p:sp>
        <p:nvSpPr>
          <p:cNvPr id="6" name="Text 4"/>
          <p:cNvSpPr/>
          <p:nvPr/>
        </p:nvSpPr>
        <p:spPr>
          <a:xfrm>
            <a:off x="548640" y="2743200"/>
            <a:ext cx="10972800" cy="320040"/>
          </a:xfrm>
          <a:prstGeom prst="rect">
            <a:avLst/>
          </a:prstGeom>
          <a:noFill/>
          <a:ln/>
        </p:spPr>
        <p:txBody>
          <a:bodyPr wrap="square" rtlCol="0" anchor="ctr"/>
          <a:lstStyle/>
          <a:p>
            <a:pPr indent="0" marL="0">
              <a:buNone/>
            </a:pPr>
            <a:r>
              <a:rPr lang="en-US" sz="1300" i="1" dirty="0">
                <a:solidFill>
                  <a:srgbClr val="6B6B6B"/>
                </a:solidFill>
                <a:latin typeface="Segoe UI" pitchFamily="34" charset="0"/>
                <a:ea typeface="Segoe UI" pitchFamily="34" charset="-122"/>
                <a:cs typeface="Segoe UI" pitchFamily="34" charset="-120"/>
              </a:rPr>
              <a:t>The work ran across the four CDIO stages.</a:t>
            </a:r>
            <a:endParaRPr lang="en-US" sz="1300" dirty="0"/>
          </a:p>
        </p:txBody>
      </p:sp>
      <p:sp>
        <p:nvSpPr>
          <p:cNvPr id="7" name="Shape 5"/>
          <p:cNvSpPr/>
          <p:nvPr/>
        </p:nvSpPr>
        <p:spPr>
          <a:xfrm>
            <a:off x="548640" y="3200400"/>
            <a:ext cx="2606040" cy="2514600"/>
          </a:xfrm>
          <a:prstGeom prst="roundRect">
            <a:avLst>
              <a:gd name="adj" fmla="val 2182"/>
            </a:avLst>
          </a:prstGeom>
          <a:solidFill>
            <a:srgbClr val="FFFFFF"/>
          </a:solidFill>
          <a:ln w="15875">
            <a:solidFill>
              <a:srgbClr val="B5673A"/>
            </a:solidFill>
            <a:prstDash val="solid"/>
          </a:ln>
          <a:effectLst>
            <a:outerShdw sx="100000" sy="100000" kx="0" ky="0" algn="bl" rotWithShape="0" blurRad="76200" dist="25400" dir="5400000">
              <a:srgbClr val="D9CFC2">
                <a:alpha val="40000"/>
              </a:srgbClr>
            </a:outerShdw>
          </a:effectLst>
        </p:spPr>
      </p:sp>
      <p:sp>
        <p:nvSpPr>
          <p:cNvPr id="8" name="Text 6"/>
          <p:cNvSpPr/>
          <p:nvPr/>
        </p:nvSpPr>
        <p:spPr>
          <a:xfrm>
            <a:off x="749808" y="3401568"/>
            <a:ext cx="2240280" cy="365760"/>
          </a:xfrm>
          <a:prstGeom prst="rect">
            <a:avLst/>
          </a:prstGeom>
          <a:noFill/>
          <a:ln/>
        </p:spPr>
        <p:txBody>
          <a:bodyPr wrap="square" rtlCol="0" anchor="ctr"/>
          <a:lstStyle/>
          <a:p>
            <a:pPr indent="0" marL="0">
              <a:buNone/>
            </a:pPr>
            <a:r>
              <a:rPr lang="en-US" sz="1500" b="1" dirty="0">
                <a:solidFill>
                  <a:srgbClr val="B5673A"/>
                </a:solidFill>
                <a:latin typeface="Segoe UI Semibold" pitchFamily="34" charset="0"/>
                <a:ea typeface="Segoe UI Semibold" pitchFamily="34" charset="-122"/>
                <a:cs typeface="Segoe UI Semibold" pitchFamily="34" charset="-120"/>
              </a:rPr>
              <a:t>Conceive</a:t>
            </a:r>
            <a:endParaRPr lang="en-US" sz="1500" dirty="0"/>
          </a:p>
        </p:txBody>
      </p:sp>
      <p:sp>
        <p:nvSpPr>
          <p:cNvPr id="9" name="Shape 7"/>
          <p:cNvSpPr/>
          <p:nvPr/>
        </p:nvSpPr>
        <p:spPr>
          <a:xfrm>
            <a:off x="768096" y="3767328"/>
            <a:ext cx="457200" cy="41148"/>
          </a:xfrm>
          <a:prstGeom prst="rect">
            <a:avLst/>
          </a:prstGeom>
          <a:solidFill>
            <a:srgbClr val="B5673A"/>
          </a:solidFill>
          <a:ln/>
        </p:spPr>
      </p:sp>
      <p:sp>
        <p:nvSpPr>
          <p:cNvPr id="10" name="Text 8"/>
          <p:cNvSpPr/>
          <p:nvPr/>
        </p:nvSpPr>
        <p:spPr>
          <a:xfrm>
            <a:off x="749808" y="3950208"/>
            <a:ext cx="2240280" cy="1645920"/>
          </a:xfrm>
          <a:prstGeom prst="rect">
            <a:avLst/>
          </a:prstGeom>
          <a:noFill/>
          <a:ln/>
        </p:spPr>
        <p:txBody>
          <a:bodyPr wrap="square" rtlCol="0" anchor="t"/>
          <a:lstStyle/>
          <a:p>
            <a:pPr indent="0" marL="0">
              <a:lnSpc>
                <a:spcPct val="103000"/>
              </a:lnSpc>
              <a:buNone/>
            </a:pPr>
            <a:r>
              <a:rPr lang="en-US" sz="1250" dirty="0">
                <a:solidFill>
                  <a:srgbClr val="262626"/>
                </a:solidFill>
                <a:latin typeface="Segoe UI" pitchFamily="34" charset="0"/>
                <a:ea typeface="Segoe UI" pitchFamily="34" charset="-122"/>
                <a:cs typeface="Segoe UI" pitchFamily="34" charset="-120"/>
              </a:rPr>
              <a:t>Shaped the idea with the founder from a problem seen in class.</a:t>
            </a:r>
            <a:endParaRPr lang="en-US" sz="1250" dirty="0"/>
          </a:p>
        </p:txBody>
      </p:sp>
      <p:sp>
        <p:nvSpPr>
          <p:cNvPr id="11" name="Shape 9"/>
          <p:cNvSpPr/>
          <p:nvPr/>
        </p:nvSpPr>
        <p:spPr>
          <a:xfrm>
            <a:off x="3355848" y="3200400"/>
            <a:ext cx="2606040" cy="2514600"/>
          </a:xfrm>
          <a:prstGeom prst="roundRect">
            <a:avLst>
              <a:gd name="adj" fmla="val 2182"/>
            </a:avLst>
          </a:prstGeom>
          <a:solidFill>
            <a:srgbClr val="FFFFFF"/>
          </a:solidFill>
          <a:ln w="15875">
            <a:solidFill>
              <a:srgbClr val="2A8C82"/>
            </a:solidFill>
            <a:prstDash val="solid"/>
          </a:ln>
          <a:effectLst>
            <a:outerShdw sx="100000" sy="100000" kx="0" ky="0" algn="bl" rotWithShape="0" blurRad="76200" dist="25400" dir="5400000">
              <a:srgbClr val="D9CFC2">
                <a:alpha val="40000"/>
              </a:srgbClr>
            </a:outerShdw>
          </a:effectLst>
        </p:spPr>
      </p:sp>
      <p:sp>
        <p:nvSpPr>
          <p:cNvPr id="12" name="Text 10"/>
          <p:cNvSpPr/>
          <p:nvPr/>
        </p:nvSpPr>
        <p:spPr>
          <a:xfrm>
            <a:off x="3557016" y="3401568"/>
            <a:ext cx="2240280" cy="365760"/>
          </a:xfrm>
          <a:prstGeom prst="rect">
            <a:avLst/>
          </a:prstGeom>
          <a:noFill/>
          <a:ln/>
        </p:spPr>
        <p:txBody>
          <a:bodyPr wrap="square" rtlCol="0" anchor="ctr"/>
          <a:lstStyle/>
          <a:p>
            <a:pPr indent="0" marL="0">
              <a:buNone/>
            </a:pPr>
            <a:r>
              <a:rPr lang="en-US" sz="1500" b="1" dirty="0">
                <a:solidFill>
                  <a:srgbClr val="2A8C82"/>
                </a:solidFill>
                <a:latin typeface="Segoe UI Semibold" pitchFamily="34" charset="0"/>
                <a:ea typeface="Segoe UI Semibold" pitchFamily="34" charset="-122"/>
                <a:cs typeface="Segoe UI Semibold" pitchFamily="34" charset="-120"/>
              </a:rPr>
              <a:t>Design</a:t>
            </a:r>
            <a:endParaRPr lang="en-US" sz="1500" dirty="0"/>
          </a:p>
        </p:txBody>
      </p:sp>
      <p:sp>
        <p:nvSpPr>
          <p:cNvPr id="13" name="Shape 11"/>
          <p:cNvSpPr/>
          <p:nvPr/>
        </p:nvSpPr>
        <p:spPr>
          <a:xfrm>
            <a:off x="3575304" y="3767328"/>
            <a:ext cx="457200" cy="41148"/>
          </a:xfrm>
          <a:prstGeom prst="rect">
            <a:avLst/>
          </a:prstGeom>
          <a:solidFill>
            <a:srgbClr val="2A8C82"/>
          </a:solidFill>
          <a:ln/>
        </p:spPr>
      </p:sp>
      <p:sp>
        <p:nvSpPr>
          <p:cNvPr id="14" name="Text 12"/>
          <p:cNvSpPr/>
          <p:nvPr/>
        </p:nvSpPr>
        <p:spPr>
          <a:xfrm>
            <a:off x="3557016" y="3950208"/>
            <a:ext cx="2240280" cy="1645920"/>
          </a:xfrm>
          <a:prstGeom prst="rect">
            <a:avLst/>
          </a:prstGeom>
          <a:noFill/>
          <a:ln/>
        </p:spPr>
        <p:txBody>
          <a:bodyPr wrap="square" rtlCol="0" anchor="t"/>
          <a:lstStyle/>
          <a:p>
            <a:pPr indent="0" marL="0">
              <a:lnSpc>
                <a:spcPct val="103000"/>
              </a:lnSpc>
              <a:buNone/>
            </a:pPr>
            <a:r>
              <a:rPr lang="en-US" sz="1250" dirty="0">
                <a:solidFill>
                  <a:srgbClr val="262626"/>
                </a:solidFill>
                <a:latin typeface="Segoe UI" pitchFamily="34" charset="0"/>
                <a:ea typeface="Segoe UI" pitchFamily="34" charset="-122"/>
                <a:cs typeface="Segoe UI" pitchFamily="34" charset="-120"/>
              </a:rPr>
              <a:t>Chose the architecture and reasoned through the key trade-offs.</a:t>
            </a:r>
            <a:endParaRPr lang="en-US" sz="1250" dirty="0"/>
          </a:p>
        </p:txBody>
      </p:sp>
      <p:sp>
        <p:nvSpPr>
          <p:cNvPr id="15" name="Shape 13"/>
          <p:cNvSpPr/>
          <p:nvPr/>
        </p:nvSpPr>
        <p:spPr>
          <a:xfrm>
            <a:off x="6163056" y="3200400"/>
            <a:ext cx="2606040" cy="2514600"/>
          </a:xfrm>
          <a:prstGeom prst="roundRect">
            <a:avLst>
              <a:gd name="adj" fmla="val 2182"/>
            </a:avLst>
          </a:prstGeom>
          <a:solidFill>
            <a:srgbClr val="FFFFFF"/>
          </a:solidFill>
          <a:ln w="15875">
            <a:solidFill>
              <a:srgbClr val="B5673A"/>
            </a:solidFill>
            <a:prstDash val="solid"/>
          </a:ln>
          <a:effectLst>
            <a:outerShdw sx="100000" sy="100000" kx="0" ky="0" algn="bl" rotWithShape="0" blurRad="76200" dist="25400" dir="5400000">
              <a:srgbClr val="D9CFC2">
                <a:alpha val="40000"/>
              </a:srgbClr>
            </a:outerShdw>
          </a:effectLst>
        </p:spPr>
      </p:sp>
      <p:sp>
        <p:nvSpPr>
          <p:cNvPr id="16" name="Text 14"/>
          <p:cNvSpPr/>
          <p:nvPr/>
        </p:nvSpPr>
        <p:spPr>
          <a:xfrm>
            <a:off x="6364224" y="3401568"/>
            <a:ext cx="2240280" cy="365760"/>
          </a:xfrm>
          <a:prstGeom prst="rect">
            <a:avLst/>
          </a:prstGeom>
          <a:noFill/>
          <a:ln/>
        </p:spPr>
        <p:txBody>
          <a:bodyPr wrap="square" rtlCol="0" anchor="ctr"/>
          <a:lstStyle/>
          <a:p>
            <a:pPr indent="0" marL="0">
              <a:buNone/>
            </a:pPr>
            <a:r>
              <a:rPr lang="en-US" sz="1500" b="1" dirty="0">
                <a:solidFill>
                  <a:srgbClr val="B5673A"/>
                </a:solidFill>
                <a:latin typeface="Segoe UI Semibold" pitchFamily="34" charset="0"/>
                <a:ea typeface="Segoe UI Semibold" pitchFamily="34" charset="-122"/>
                <a:cs typeface="Segoe UI Semibold" pitchFamily="34" charset="-120"/>
              </a:rPr>
              <a:t>Implement</a:t>
            </a:r>
            <a:endParaRPr lang="en-US" sz="1500" dirty="0"/>
          </a:p>
        </p:txBody>
      </p:sp>
      <p:sp>
        <p:nvSpPr>
          <p:cNvPr id="17" name="Shape 15"/>
          <p:cNvSpPr/>
          <p:nvPr/>
        </p:nvSpPr>
        <p:spPr>
          <a:xfrm>
            <a:off x="6382512" y="3767328"/>
            <a:ext cx="457200" cy="41148"/>
          </a:xfrm>
          <a:prstGeom prst="rect">
            <a:avLst/>
          </a:prstGeom>
          <a:solidFill>
            <a:srgbClr val="B5673A"/>
          </a:solidFill>
          <a:ln/>
        </p:spPr>
      </p:sp>
      <p:sp>
        <p:nvSpPr>
          <p:cNvPr id="18" name="Text 16"/>
          <p:cNvSpPr/>
          <p:nvPr/>
        </p:nvSpPr>
        <p:spPr>
          <a:xfrm>
            <a:off x="6364224" y="3950208"/>
            <a:ext cx="2240280" cy="1645920"/>
          </a:xfrm>
          <a:prstGeom prst="rect">
            <a:avLst/>
          </a:prstGeom>
          <a:noFill/>
          <a:ln/>
        </p:spPr>
        <p:txBody>
          <a:bodyPr wrap="square" rtlCol="0" anchor="t"/>
          <a:lstStyle/>
          <a:p>
            <a:pPr indent="0" marL="0">
              <a:lnSpc>
                <a:spcPct val="103000"/>
              </a:lnSpc>
              <a:buNone/>
            </a:pPr>
            <a:r>
              <a:rPr lang="en-US" sz="1250" dirty="0">
                <a:solidFill>
                  <a:srgbClr val="262626"/>
                </a:solidFill>
                <a:latin typeface="Segoe UI" pitchFamily="34" charset="0"/>
                <a:ea typeface="Segoe UI" pitchFamily="34" charset="-122"/>
                <a:cs typeface="Segoe UI" pitchFamily="34" charset="-120"/>
              </a:rPr>
              <a:t>Built the extraction pipeline and the Ooka app.</a:t>
            </a:r>
            <a:endParaRPr lang="en-US" sz="1250" dirty="0"/>
          </a:p>
        </p:txBody>
      </p:sp>
      <p:sp>
        <p:nvSpPr>
          <p:cNvPr id="19" name="Shape 17"/>
          <p:cNvSpPr/>
          <p:nvPr/>
        </p:nvSpPr>
        <p:spPr>
          <a:xfrm>
            <a:off x="8970264" y="3200400"/>
            <a:ext cx="2606040" cy="2514600"/>
          </a:xfrm>
          <a:prstGeom prst="roundRect">
            <a:avLst>
              <a:gd name="adj" fmla="val 2182"/>
            </a:avLst>
          </a:prstGeom>
          <a:solidFill>
            <a:srgbClr val="FFFFFF"/>
          </a:solidFill>
          <a:ln w="15875">
            <a:solidFill>
              <a:srgbClr val="2A8C82"/>
            </a:solidFill>
            <a:prstDash val="solid"/>
          </a:ln>
          <a:effectLst>
            <a:outerShdw sx="100000" sy="100000" kx="0" ky="0" algn="bl" rotWithShape="0" blurRad="76200" dist="25400" dir="5400000">
              <a:srgbClr val="D9CFC2">
                <a:alpha val="40000"/>
              </a:srgbClr>
            </a:outerShdw>
          </a:effectLst>
        </p:spPr>
      </p:sp>
      <p:sp>
        <p:nvSpPr>
          <p:cNvPr id="20" name="Text 18"/>
          <p:cNvSpPr/>
          <p:nvPr/>
        </p:nvSpPr>
        <p:spPr>
          <a:xfrm>
            <a:off x="9171432" y="3401568"/>
            <a:ext cx="2240280" cy="365760"/>
          </a:xfrm>
          <a:prstGeom prst="rect">
            <a:avLst/>
          </a:prstGeom>
          <a:noFill/>
          <a:ln/>
        </p:spPr>
        <p:txBody>
          <a:bodyPr wrap="square" rtlCol="0" anchor="ctr"/>
          <a:lstStyle/>
          <a:p>
            <a:pPr indent="0" marL="0">
              <a:buNone/>
            </a:pPr>
            <a:r>
              <a:rPr lang="en-US" sz="1500" b="1" dirty="0">
                <a:solidFill>
                  <a:srgbClr val="2A8C82"/>
                </a:solidFill>
                <a:latin typeface="Segoe UI Semibold" pitchFamily="34" charset="0"/>
                <a:ea typeface="Segoe UI Semibold" pitchFamily="34" charset="-122"/>
                <a:cs typeface="Segoe UI Semibold" pitchFamily="34" charset="-120"/>
              </a:rPr>
              <a:t>Operate</a:t>
            </a:r>
            <a:endParaRPr lang="en-US" sz="1500" dirty="0"/>
          </a:p>
        </p:txBody>
      </p:sp>
      <p:sp>
        <p:nvSpPr>
          <p:cNvPr id="21" name="Shape 19"/>
          <p:cNvSpPr/>
          <p:nvPr/>
        </p:nvSpPr>
        <p:spPr>
          <a:xfrm>
            <a:off x="9189720" y="3767328"/>
            <a:ext cx="457200" cy="41148"/>
          </a:xfrm>
          <a:prstGeom prst="rect">
            <a:avLst/>
          </a:prstGeom>
          <a:solidFill>
            <a:srgbClr val="2A8C82"/>
          </a:solidFill>
          <a:ln/>
        </p:spPr>
      </p:sp>
      <p:sp>
        <p:nvSpPr>
          <p:cNvPr id="22" name="Text 20"/>
          <p:cNvSpPr/>
          <p:nvPr/>
        </p:nvSpPr>
        <p:spPr>
          <a:xfrm>
            <a:off x="9171432" y="3950208"/>
            <a:ext cx="2240280" cy="1645920"/>
          </a:xfrm>
          <a:prstGeom prst="rect">
            <a:avLst/>
          </a:prstGeom>
          <a:noFill/>
          <a:ln/>
        </p:spPr>
        <p:txBody>
          <a:bodyPr wrap="square" rtlCol="0" anchor="t"/>
          <a:lstStyle/>
          <a:p>
            <a:pPr indent="0" marL="0">
              <a:lnSpc>
                <a:spcPct val="103000"/>
              </a:lnSpc>
              <a:buNone/>
            </a:pPr>
            <a:r>
              <a:rPr lang="en-US" sz="1250" dirty="0">
                <a:solidFill>
                  <a:srgbClr val="262626"/>
                </a:solidFill>
                <a:latin typeface="Segoe UI" pitchFamily="34" charset="0"/>
                <a:ea typeface="Segoe UI" pitchFamily="34" charset="-122"/>
                <a:cs typeface="Segoe UI" pitchFamily="34" charset="-120"/>
              </a:rPr>
              <a:t>Deployed to the cloud and tested with around 22 students.</a:t>
            </a:r>
            <a:endParaRPr lang="en-US" sz="1250" dirty="0"/>
          </a:p>
        </p:txBody>
      </p:sp>
      <p:sp>
        <p:nvSpPr>
          <p:cNvPr id="23" name="Text 21"/>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22 WEEKS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CONCEIVE</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THE PROBLEM THE FOUNDER SAW IN HIS OWN CLASSES</a:t>
            </a:r>
            <a:endParaRPr lang="en-US" sz="1100" dirty="0"/>
          </a:p>
        </p:txBody>
      </p:sp>
      <p:sp>
        <p:nvSpPr>
          <p:cNvPr id="5" name="Text 3"/>
          <p:cNvSpPr/>
          <p:nvPr/>
        </p:nvSpPr>
        <p:spPr>
          <a:xfrm>
            <a:off x="548640" y="1234440"/>
            <a:ext cx="10972800" cy="548640"/>
          </a:xfrm>
          <a:prstGeom prst="rect">
            <a:avLst/>
          </a:prstGeom>
          <a:noFill/>
          <a:ln/>
        </p:spPr>
        <p:txBody>
          <a:bodyPr wrap="square" rtlCol="0" anchor="ctr"/>
          <a:lstStyle/>
          <a:p>
            <a:pPr indent="0" marL="0">
              <a:buNone/>
            </a:pPr>
            <a:r>
              <a:rPr lang="en-US" sz="2400" b="1" dirty="0">
                <a:solidFill>
                  <a:srgbClr val="262626"/>
                </a:solidFill>
                <a:latin typeface="Segoe UI Semibold" pitchFamily="34" charset="0"/>
                <a:ea typeface="Segoe UI Semibold" pitchFamily="34" charset="-122"/>
                <a:cs typeface="Segoe UI Semibold" pitchFamily="34" charset="-120"/>
              </a:rPr>
              <a:t>Homework is tedious, and it gives no immediate feedback.</a:t>
            </a:r>
            <a:endParaRPr lang="en-US" sz="2400" dirty="0"/>
          </a:p>
        </p:txBody>
      </p:sp>
      <p:sp>
        <p:nvSpPr>
          <p:cNvPr id="6" name="Text 4"/>
          <p:cNvSpPr/>
          <p:nvPr/>
        </p:nvSpPr>
        <p:spPr>
          <a:xfrm>
            <a:off x="548640" y="1965960"/>
            <a:ext cx="10972800" cy="4754880"/>
          </a:xfrm>
          <a:prstGeom prst="rect">
            <a:avLst/>
          </a:prstGeom>
          <a:noFill/>
          <a:ln/>
        </p:spPr>
        <p:txBody>
          <a:bodyPr wrap="square" rtlCol="0" anchor="t"/>
          <a:lstStyle/>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A student is unsure if an answer is right, has to note it down, and often never raises it in class, so the misunderstanding goes uncorrected.</a:t>
            </a:r>
            <a:endParaRPr lang="en-US" sz="1600" dirty="0"/>
          </a:p>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Teachers have little visibility of who is struggling, because it depends on students speaking up.</a:t>
            </a:r>
            <a:endParaRPr lang="en-US" sz="1600" dirty="0"/>
          </a:p>
          <a:p>
            <a:pPr marL="177800" indent="-177800">
              <a:lnSpc>
                <a:spcPct val="104000"/>
              </a:lnSpc>
              <a:spcAft>
                <a:spcPts val="700"/>
              </a:spcAft>
              <a:buSzPct val="100000"/>
              <a:buChar char="•"/>
            </a:pPr>
            <a:r>
              <a:rPr lang="en-US" sz="1600" dirty="0">
                <a:solidFill>
                  <a:srgbClr val="262626"/>
                </a:solidFill>
                <a:latin typeface="Segoe UI" pitchFamily="34" charset="0"/>
                <a:ea typeface="Segoe UI" pitchFamily="34" charset="-122"/>
                <a:cs typeface="Segoe UI" pitchFamily="34" charset="-120"/>
              </a:rPr>
              <a:t>Delivering a solution meant solving two problems: a supply problem (real questions at scale) and an engagement problem (a reason to return daily).</a:t>
            </a:r>
            <a:endParaRPr lang="en-US" sz="1600" dirty="0"/>
          </a:p>
        </p:txBody>
      </p:sp>
      <p:sp>
        <p:nvSpPr>
          <p:cNvPr id="7" name="Text 5"/>
          <p:cNvSpPr/>
          <p:nvPr/>
        </p:nvSpPr>
        <p:spPr>
          <a:xfrm>
            <a:off x="548640" y="420624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IMMEDIATE, PER-QUESTION FEEDBACK CLOSES BOTH GAPS</a:t>
            </a:r>
            <a:endParaRPr lang="en-US" sz="1100" dirty="0"/>
          </a:p>
        </p:txBody>
      </p:sp>
      <p:sp>
        <p:nvSpPr>
          <p:cNvPr id="8" name="Text 6"/>
          <p:cNvSpPr/>
          <p:nvPr/>
        </p:nvSpPr>
        <p:spPr>
          <a:xfrm>
            <a:off x="548640" y="4572000"/>
            <a:ext cx="10972800" cy="4754880"/>
          </a:xfrm>
          <a:prstGeom prst="rect">
            <a:avLst/>
          </a:prstGeom>
          <a:noFill/>
          <a:ln/>
        </p:spPr>
        <p:txBody>
          <a:bodyPr wrap="square" rtlCol="0" anchor="t"/>
          <a:lstStyle/>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Students get the correct answer and an explanation the moment they answer, without flagging anything.</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A teacher dashboard surfaces each student's weak topics automatically.</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CONCEIVE</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FEATURES DESIGNED TO MEET THOSE NEEDS</a:t>
            </a:r>
            <a:endParaRPr lang="en-US" sz="1100" dirty="0"/>
          </a:p>
        </p:txBody>
      </p:sp>
      <p:sp>
        <p:nvSpPr>
          <p:cNvPr id="5" name="Text 3"/>
          <p:cNvSpPr/>
          <p:nvPr/>
        </p:nvSpPr>
        <p:spPr>
          <a:xfrm>
            <a:off x="548640" y="1371600"/>
            <a:ext cx="6766560" cy="4754880"/>
          </a:xfrm>
          <a:prstGeom prst="rect">
            <a:avLst/>
          </a:prstGeom>
          <a:noFill/>
          <a:ln/>
        </p:spPr>
        <p:txBody>
          <a:bodyPr wrap="square" rtlCol="0" anchor="t"/>
          <a:lstStyle/>
          <a:p>
            <a:pPr marL="177800" indent="-177800">
              <a:lnSpc>
                <a:spcPct val="104000"/>
              </a:lnSpc>
              <a:spcAft>
                <a:spcPts val="700"/>
              </a:spcAft>
              <a:buSzPct val="100000"/>
              <a:buChar char="•"/>
            </a:pPr>
            <a:r>
              <a:rPr lang="en-US" sz="1700" dirty="0">
                <a:solidFill>
                  <a:srgbClr val="262626"/>
                </a:solidFill>
                <a:latin typeface="Segoe UI" pitchFamily="34" charset="0"/>
                <a:ea typeface="Segoe UI" pitchFamily="34" charset="-122"/>
                <a:cs typeface="Segoe UI" pitchFamily="34" charset="-120"/>
              </a:rPr>
              <a:t>Practice on real examination questions, not generic ones.</a:t>
            </a:r>
            <a:endParaRPr lang="en-US" sz="1700" dirty="0"/>
          </a:p>
          <a:p>
            <a:pPr marL="177800" indent="-177800">
              <a:lnSpc>
                <a:spcPct val="104000"/>
              </a:lnSpc>
              <a:spcAft>
                <a:spcPts val="700"/>
              </a:spcAft>
              <a:buSzPct val="100000"/>
              <a:buChar char="•"/>
            </a:pPr>
            <a:r>
              <a:rPr lang="en-US" sz="1700" dirty="0">
                <a:solidFill>
                  <a:srgbClr val="262626"/>
                </a:solidFill>
                <a:latin typeface="Segoe UI" pitchFamily="34" charset="0"/>
                <a:ea typeface="Segoe UI" pitchFamily="34" charset="-122"/>
                <a:cs typeface="Segoe UI" pitchFamily="34" charset="-120"/>
              </a:rPr>
              <a:t>An explanation the instant a question is answered.</a:t>
            </a:r>
            <a:endParaRPr lang="en-US" sz="1700" dirty="0"/>
          </a:p>
          <a:p>
            <a:pPr marL="177800" indent="-177800">
              <a:lnSpc>
                <a:spcPct val="104000"/>
              </a:lnSpc>
              <a:spcAft>
                <a:spcPts val="700"/>
              </a:spcAft>
              <a:buSzPct val="100000"/>
              <a:buChar char="•"/>
            </a:pPr>
            <a:r>
              <a:rPr lang="en-US" sz="1700" dirty="0">
                <a:solidFill>
                  <a:srgbClr val="262626"/>
                </a:solidFill>
                <a:latin typeface="Segoe UI" pitchFamily="34" charset="0"/>
                <a:ea typeface="Segoe UI" pitchFamily="34" charset="-122"/>
                <a:cs typeface="Segoe UI" pitchFamily="34" charset="-120"/>
              </a:rPr>
              <a:t>Gamified streaks, XP and rewards to make practice consistent.</a:t>
            </a:r>
            <a:endParaRPr lang="en-US" sz="1700" dirty="0"/>
          </a:p>
          <a:p>
            <a:pPr marL="177800" indent="-177800">
              <a:lnSpc>
                <a:spcPct val="104000"/>
              </a:lnSpc>
              <a:spcAft>
                <a:spcPts val="700"/>
              </a:spcAft>
              <a:buSzPct val="100000"/>
              <a:buChar char="•"/>
            </a:pPr>
            <a:r>
              <a:rPr lang="en-US" sz="1700" dirty="0">
                <a:solidFill>
                  <a:srgbClr val="262626"/>
                </a:solidFill>
                <a:latin typeface="Segoe UI" pitchFamily="34" charset="0"/>
                <a:ea typeface="Segoe UI" pitchFamily="34" charset="-122"/>
                <a:cs typeface="Segoe UI" pitchFamily="34" charset="-120"/>
              </a:rPr>
              <a:t>A teacher dashboard showing where each student is weak.</a:t>
            </a:r>
            <a:endParaRPr lang="en-US" sz="1700" dirty="0"/>
          </a:p>
          <a:p>
            <a:pPr marL="177800" indent="-177800">
              <a:lnSpc>
                <a:spcPct val="104000"/>
              </a:lnSpc>
              <a:spcAft>
                <a:spcPts val="700"/>
              </a:spcAft>
              <a:buSzPct val="100000"/>
              <a:buChar char="•"/>
            </a:pPr>
            <a:r>
              <a:rPr lang="en-US" sz="1700" dirty="0">
                <a:solidFill>
                  <a:srgbClr val="262626"/>
                </a:solidFill>
                <a:latin typeface="Segoe UI" pitchFamily="34" charset="0"/>
                <a:ea typeface="Segoe UI" pitchFamily="34" charset="-122"/>
                <a:cs typeface="Segoe UI" pitchFamily="34" charset="-120"/>
              </a:rPr>
              <a:t>Planned parent-facing progress over time.</a:t>
            </a:r>
            <a:endParaRPr lang="en-US" sz="1700" dirty="0"/>
          </a:p>
        </p:txBody>
      </p:sp>
      <p:pic>
        <p:nvPicPr>
          <p:cNvPr id="6" name="Image 0" descr="/sessions/kind-inspiring-mendel/mnt/quizMaker/ooka_05_explanation_feedback.png">    </p:cNvPr>
          <p:cNvPicPr>
            <a:picLocks noChangeAspect="1"/>
          </p:cNvPicPr>
          <p:nvPr/>
        </p:nvPicPr>
        <p:blipFill>
          <a:blip r:embed="rId1"/>
          <a:stretch>
            <a:fillRect/>
          </a:stretch>
        </p:blipFill>
        <p:spPr>
          <a:xfrm>
            <a:off x="7772400" y="1234440"/>
            <a:ext cx="1920240" cy="3671883"/>
          </a:xfrm>
          <a:prstGeom prst="rect">
            <a:avLst/>
          </a:prstGeom>
        </p:spPr>
      </p:pic>
      <p:pic>
        <p:nvPicPr>
          <p:cNvPr id="7" name="Image 1" descr="/sessions/kind-inspiring-mendel/mnt/quizMaker/ooka_04_question_with_diagram.png">    </p:cNvPr>
          <p:cNvPicPr>
            <a:picLocks noChangeAspect="1"/>
          </p:cNvPicPr>
          <p:nvPr/>
        </p:nvPicPr>
        <p:blipFill>
          <a:blip r:embed="rId2"/>
          <a:stretch>
            <a:fillRect/>
          </a:stretch>
        </p:blipFill>
        <p:spPr>
          <a:xfrm>
            <a:off x="9829800" y="1234440"/>
            <a:ext cx="1920240" cy="3671883"/>
          </a:xfrm>
          <a:prstGeom prst="rect">
            <a:avLst/>
          </a:prstGeom>
        </p:spPr>
      </p:pic>
      <p:sp>
        <p:nvSpPr>
          <p:cNvPr id="8"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CONCEIVE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DESIGN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A KEY DECISION, WHERE TO KEEP THE QUESTION CONTENT</a:t>
            </a:r>
            <a:endParaRPr lang="en-US" sz="1100" dirty="0"/>
          </a:p>
        </p:txBody>
      </p:sp>
      <p:sp>
        <p:nvSpPr>
          <p:cNvPr id="5" name="Shape 3"/>
          <p:cNvSpPr/>
          <p:nvPr/>
        </p:nvSpPr>
        <p:spPr>
          <a:xfrm>
            <a:off x="548640" y="1371600"/>
            <a:ext cx="5303520" cy="4572000"/>
          </a:xfrm>
          <a:prstGeom prst="roundRect">
            <a:avLst>
              <a:gd name="adj" fmla="val 1200"/>
            </a:avLst>
          </a:prstGeom>
          <a:solidFill>
            <a:srgbClr val="FFFFFF"/>
          </a:solidFill>
          <a:ln w="19050">
            <a:solidFill>
              <a:srgbClr val="B23E65"/>
            </a:solidFill>
            <a:prstDash val="solid"/>
          </a:ln>
        </p:spPr>
      </p:sp>
      <p:sp>
        <p:nvSpPr>
          <p:cNvPr id="6" name="Text 4"/>
          <p:cNvSpPr/>
          <p:nvPr/>
        </p:nvSpPr>
        <p:spPr>
          <a:xfrm>
            <a:off x="548640" y="1554480"/>
            <a:ext cx="5303520" cy="502920"/>
          </a:xfrm>
          <a:prstGeom prst="rect">
            <a:avLst/>
          </a:prstGeom>
          <a:noFill/>
          <a:ln/>
        </p:spPr>
        <p:txBody>
          <a:bodyPr wrap="square" rtlCol="0" anchor="ctr"/>
          <a:lstStyle/>
          <a:p>
            <a:pPr algn="ctr" indent="0" marL="0">
              <a:buNone/>
            </a:pPr>
            <a:r>
              <a:rPr lang="en-US" sz="1900" b="1" dirty="0">
                <a:solidFill>
                  <a:srgbClr val="B23E65"/>
                </a:solidFill>
                <a:latin typeface="Segoe UI Semibold" pitchFamily="34" charset="0"/>
                <a:ea typeface="Segoe UI Semibold" pitchFamily="34" charset="-122"/>
                <a:cs typeface="Segoe UI Semibold" pitchFamily="34" charset="-120"/>
              </a:rPr>
              <a:t>Relational database (MySQL)</a:t>
            </a:r>
            <a:endParaRPr lang="en-US" sz="1900" dirty="0"/>
          </a:p>
        </p:txBody>
      </p:sp>
      <p:sp>
        <p:nvSpPr>
          <p:cNvPr id="7" name="Text 5"/>
          <p:cNvSpPr/>
          <p:nvPr/>
        </p:nvSpPr>
        <p:spPr>
          <a:xfrm>
            <a:off x="868680" y="2194560"/>
            <a:ext cx="4663440" cy="274320"/>
          </a:xfrm>
          <a:prstGeom prst="rect">
            <a:avLst/>
          </a:prstGeom>
          <a:noFill/>
          <a:ln/>
        </p:spPr>
        <p:txBody>
          <a:bodyPr wrap="square" rtlCol="0" anchor="ctr"/>
          <a:lstStyle/>
          <a:p>
            <a:pPr indent="0" marL="0">
              <a:buNone/>
            </a:pPr>
            <a:r>
              <a:rPr lang="en-US" sz="1200" b="1" spc="200" kern="0" dirty="0">
                <a:solidFill>
                  <a:srgbClr val="3E8E6E"/>
                </a:solidFill>
                <a:latin typeface="Segoe UI" pitchFamily="34" charset="0"/>
                <a:ea typeface="Segoe UI" pitchFamily="34" charset="-122"/>
                <a:cs typeface="Segoe UI" pitchFamily="34" charset="-120"/>
              </a:rPr>
              <a:t>PROS</a:t>
            </a:r>
            <a:endParaRPr lang="en-US" sz="1200" dirty="0"/>
          </a:p>
        </p:txBody>
      </p:sp>
      <p:sp>
        <p:nvSpPr>
          <p:cNvPr id="8" name="Text 6"/>
          <p:cNvSpPr/>
          <p:nvPr/>
        </p:nvSpPr>
        <p:spPr>
          <a:xfrm>
            <a:off x="868680" y="2487168"/>
            <a:ext cx="4663440" cy="1554480"/>
          </a:xfrm>
          <a:prstGeom prst="rect">
            <a:avLst/>
          </a:prstGeom>
          <a:noFill/>
          <a:ln/>
        </p:spPr>
        <p:txBody>
          <a:bodyPr wrap="square" rtlCol="0" anchor="t"/>
          <a:lstStyle/>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Powerful SQL querying and search.</a:t>
            </a:r>
            <a:endParaRPr lang="en-US" sz="1250" dirty="0"/>
          </a:p>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Strong data integrity.</a:t>
            </a:r>
            <a:endParaRPr lang="en-US" sz="1250" dirty="0"/>
          </a:p>
        </p:txBody>
      </p:sp>
      <p:sp>
        <p:nvSpPr>
          <p:cNvPr id="9" name="Text 7"/>
          <p:cNvSpPr/>
          <p:nvPr/>
        </p:nvSpPr>
        <p:spPr>
          <a:xfrm>
            <a:off x="868680" y="4160520"/>
            <a:ext cx="4663440" cy="274320"/>
          </a:xfrm>
          <a:prstGeom prst="rect">
            <a:avLst/>
          </a:prstGeom>
          <a:noFill/>
          <a:ln/>
        </p:spPr>
        <p:txBody>
          <a:bodyPr wrap="square" rtlCol="0" anchor="ctr"/>
          <a:lstStyle/>
          <a:p>
            <a:pPr indent="0" marL="0">
              <a:buNone/>
            </a:pPr>
            <a:r>
              <a:rPr lang="en-US" sz="1200" b="1" spc="200" kern="0" dirty="0">
                <a:solidFill>
                  <a:srgbClr val="B5673A"/>
                </a:solidFill>
                <a:latin typeface="Segoe UI" pitchFamily="34" charset="0"/>
                <a:ea typeface="Segoe UI" pitchFamily="34" charset="-122"/>
                <a:cs typeface="Segoe UI" pitchFamily="34" charset="-120"/>
              </a:rPr>
              <a:t>CONS</a:t>
            </a:r>
            <a:endParaRPr lang="en-US" sz="1200" dirty="0"/>
          </a:p>
        </p:txBody>
      </p:sp>
      <p:sp>
        <p:nvSpPr>
          <p:cNvPr id="10" name="Text 8"/>
          <p:cNvSpPr/>
          <p:nvPr/>
        </p:nvSpPr>
        <p:spPr>
          <a:xfrm>
            <a:off x="868680" y="4453128"/>
            <a:ext cx="4663440" cy="1371600"/>
          </a:xfrm>
          <a:prstGeom prst="rect">
            <a:avLst/>
          </a:prstGeom>
          <a:noFill/>
          <a:ln/>
        </p:spPr>
        <p:txBody>
          <a:bodyPr wrap="square" rtlCol="0" anchor="t"/>
          <a:lstStyle/>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Teachers cannot edit content without a developer.</a:t>
            </a:r>
            <a:endParaRPr lang="en-US" sz="1250" dirty="0"/>
          </a:p>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Every content change needs my involvement.</a:t>
            </a:r>
            <a:endParaRPr lang="en-US" sz="1250" dirty="0"/>
          </a:p>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No easy comments or version history.</a:t>
            </a:r>
            <a:endParaRPr lang="en-US" sz="1250" dirty="0"/>
          </a:p>
        </p:txBody>
      </p:sp>
      <p:sp>
        <p:nvSpPr>
          <p:cNvPr id="11" name="Shape 9"/>
          <p:cNvSpPr/>
          <p:nvPr/>
        </p:nvSpPr>
        <p:spPr>
          <a:xfrm>
            <a:off x="6355080" y="1371600"/>
            <a:ext cx="5303520" cy="4572000"/>
          </a:xfrm>
          <a:prstGeom prst="roundRect">
            <a:avLst>
              <a:gd name="adj" fmla="val 1200"/>
            </a:avLst>
          </a:prstGeom>
          <a:solidFill>
            <a:srgbClr val="FFFFFF"/>
          </a:solidFill>
          <a:ln w="19050">
            <a:solidFill>
              <a:srgbClr val="137A3F"/>
            </a:solidFill>
            <a:prstDash val="solid"/>
          </a:ln>
        </p:spPr>
      </p:sp>
      <p:sp>
        <p:nvSpPr>
          <p:cNvPr id="12" name="Text 10"/>
          <p:cNvSpPr/>
          <p:nvPr/>
        </p:nvSpPr>
        <p:spPr>
          <a:xfrm>
            <a:off x="6355080" y="1554480"/>
            <a:ext cx="5303520" cy="502920"/>
          </a:xfrm>
          <a:prstGeom prst="rect">
            <a:avLst/>
          </a:prstGeom>
          <a:noFill/>
          <a:ln/>
        </p:spPr>
        <p:txBody>
          <a:bodyPr wrap="square" rtlCol="0" anchor="ctr"/>
          <a:lstStyle/>
          <a:p>
            <a:pPr algn="ctr" indent="0" marL="0">
              <a:buNone/>
            </a:pPr>
            <a:r>
              <a:rPr lang="en-US" sz="1900" b="1" dirty="0">
                <a:solidFill>
                  <a:srgbClr val="137A3F"/>
                </a:solidFill>
                <a:latin typeface="Segoe UI Semibold" pitchFamily="34" charset="0"/>
                <a:ea typeface="Segoe UI Semibold" pitchFamily="34" charset="-122"/>
                <a:cs typeface="Segoe UI Semibold" pitchFamily="34" charset="-120"/>
              </a:rPr>
              <a:t>Google Sheets + Drive  (chosen)</a:t>
            </a:r>
            <a:endParaRPr lang="en-US" sz="1900" dirty="0"/>
          </a:p>
        </p:txBody>
      </p:sp>
      <p:sp>
        <p:nvSpPr>
          <p:cNvPr id="13" name="Text 11"/>
          <p:cNvSpPr/>
          <p:nvPr/>
        </p:nvSpPr>
        <p:spPr>
          <a:xfrm>
            <a:off x="6675120" y="2194560"/>
            <a:ext cx="4663440" cy="274320"/>
          </a:xfrm>
          <a:prstGeom prst="rect">
            <a:avLst/>
          </a:prstGeom>
          <a:noFill/>
          <a:ln/>
        </p:spPr>
        <p:txBody>
          <a:bodyPr wrap="square" rtlCol="0" anchor="ctr"/>
          <a:lstStyle/>
          <a:p>
            <a:pPr indent="0" marL="0">
              <a:buNone/>
            </a:pPr>
            <a:r>
              <a:rPr lang="en-US" sz="1200" b="1" spc="200" kern="0" dirty="0">
                <a:solidFill>
                  <a:srgbClr val="3E8E6E"/>
                </a:solidFill>
                <a:latin typeface="Segoe UI" pitchFamily="34" charset="0"/>
                <a:ea typeface="Segoe UI" pitchFamily="34" charset="-122"/>
                <a:cs typeface="Segoe UI" pitchFamily="34" charset="-120"/>
              </a:rPr>
              <a:t>PROS</a:t>
            </a:r>
            <a:endParaRPr lang="en-US" sz="1200" dirty="0"/>
          </a:p>
        </p:txBody>
      </p:sp>
      <p:sp>
        <p:nvSpPr>
          <p:cNvPr id="14" name="Text 12"/>
          <p:cNvSpPr/>
          <p:nvPr/>
        </p:nvSpPr>
        <p:spPr>
          <a:xfrm>
            <a:off x="6675120" y="2487168"/>
            <a:ext cx="4663440" cy="1554480"/>
          </a:xfrm>
          <a:prstGeom prst="rect">
            <a:avLst/>
          </a:prstGeom>
          <a:noFill/>
          <a:ln/>
        </p:spPr>
        <p:txBody>
          <a:bodyPr wrap="square" rtlCol="0" anchor="t"/>
          <a:lstStyle/>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The founder and teachers edit questions directly in a familiar tool.</a:t>
            </a:r>
            <a:endParaRPr lang="en-US" sz="1250" dirty="0"/>
          </a:p>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Built-in comments, history and sharing.</a:t>
            </a:r>
            <a:endParaRPr lang="en-US" sz="1250" dirty="0"/>
          </a:p>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No developer needed for a content change.</a:t>
            </a:r>
            <a:endParaRPr lang="en-US" sz="1250" dirty="0"/>
          </a:p>
        </p:txBody>
      </p:sp>
      <p:sp>
        <p:nvSpPr>
          <p:cNvPr id="15" name="Text 13"/>
          <p:cNvSpPr/>
          <p:nvPr/>
        </p:nvSpPr>
        <p:spPr>
          <a:xfrm>
            <a:off x="6675120" y="4160520"/>
            <a:ext cx="4663440" cy="274320"/>
          </a:xfrm>
          <a:prstGeom prst="rect">
            <a:avLst/>
          </a:prstGeom>
          <a:noFill/>
          <a:ln/>
        </p:spPr>
        <p:txBody>
          <a:bodyPr wrap="square" rtlCol="0" anchor="ctr"/>
          <a:lstStyle/>
          <a:p>
            <a:pPr indent="0" marL="0">
              <a:buNone/>
            </a:pPr>
            <a:r>
              <a:rPr lang="en-US" sz="1200" b="1" spc="200" kern="0" dirty="0">
                <a:solidFill>
                  <a:srgbClr val="B5673A"/>
                </a:solidFill>
                <a:latin typeface="Segoe UI" pitchFamily="34" charset="0"/>
                <a:ea typeface="Segoe UI" pitchFamily="34" charset="-122"/>
                <a:cs typeface="Segoe UI" pitchFamily="34" charset="-120"/>
              </a:rPr>
              <a:t>CONS</a:t>
            </a:r>
            <a:endParaRPr lang="en-US" sz="1200" dirty="0"/>
          </a:p>
        </p:txBody>
      </p:sp>
      <p:sp>
        <p:nvSpPr>
          <p:cNvPr id="16" name="Text 14"/>
          <p:cNvSpPr/>
          <p:nvPr/>
        </p:nvSpPr>
        <p:spPr>
          <a:xfrm>
            <a:off x="6675120" y="4453128"/>
            <a:ext cx="4663440" cy="1371600"/>
          </a:xfrm>
          <a:prstGeom prst="rect">
            <a:avLst/>
          </a:prstGeom>
          <a:noFill/>
          <a:ln/>
        </p:spPr>
        <p:txBody>
          <a:bodyPr wrap="square" rtlCol="0" anchor="t"/>
          <a:lstStyle/>
          <a:p>
            <a:pPr marL="177800" indent="-177800">
              <a:spcAft>
                <a:spcPts val="700"/>
              </a:spcAft>
              <a:buSzPct val="100000"/>
              <a:buChar char="•"/>
            </a:pPr>
            <a:r>
              <a:rPr lang="en-US" sz="1250" dirty="0">
                <a:solidFill>
                  <a:srgbClr val="262626"/>
                </a:solidFill>
                <a:latin typeface="Segoe UI" pitchFamily="34" charset="0"/>
                <a:ea typeface="Segoe UI" pitchFamily="34" charset="-122"/>
                <a:cs typeface="Segoe UI" pitchFamily="34" charset="-120"/>
              </a:rPr>
              <a:t>No SQL search, so filtering is done in memory after loading.</a:t>
            </a:r>
            <a:endParaRPr lang="en-US" sz="1250" dirty="0"/>
          </a:p>
        </p:txBody>
      </p:sp>
      <p:sp>
        <p:nvSpPr>
          <p:cNvPr id="17" name="Text 15"/>
          <p:cNvSpPr/>
          <p:nvPr/>
        </p:nvSpPr>
        <p:spPr>
          <a:xfrm>
            <a:off x="548640" y="6080760"/>
            <a:ext cx="11064240" cy="365760"/>
          </a:xfrm>
          <a:prstGeom prst="rect">
            <a:avLst/>
          </a:prstGeom>
          <a:noFill/>
          <a:ln/>
        </p:spPr>
        <p:txBody>
          <a:bodyPr wrap="square" rtlCol="0" anchor="ctr"/>
          <a:lstStyle/>
          <a:p>
            <a:pPr algn="ctr" indent="0" marL="0">
              <a:buNone/>
            </a:pPr>
            <a:r>
              <a:rPr lang="en-US" sz="1250" i="1" dirty="0">
                <a:solidFill>
                  <a:srgbClr val="6B6B6B"/>
                </a:solidFill>
                <a:latin typeface="Segoe UI" pitchFamily="34" charset="0"/>
                <a:ea typeface="Segoe UI" pitchFamily="34" charset="-122"/>
                <a:cs typeface="Segoe UI" pitchFamily="34" charset="-120"/>
              </a:rPr>
              <a:t>I kept only user data in MySQL and put the question content in Google Sheets and Drive, so the people who write the questions own them, not the engineer.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PROJECT TIMELINE</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457200" y="731520"/>
            <a:ext cx="11247120" cy="822960"/>
          </a:xfrm>
          <a:prstGeom prst="rect">
            <a:avLst/>
          </a:prstGeom>
          <a:noFill/>
          <a:ln/>
        </p:spPr>
        <p:txBody>
          <a:bodyPr wrap="square" rtlCol="0" anchor="ctr"/>
          <a:lstStyle/>
          <a:p>
            <a:pPr algn="ctr" indent="0" marL="0">
              <a:buNone/>
            </a:pPr>
            <a:r>
              <a:rPr lang="en-US" sz="4000" b="1" dirty="0">
                <a:solidFill>
                  <a:srgbClr val="B5673A"/>
                </a:solidFill>
                <a:latin typeface="Segoe UI Semibold" pitchFamily="34" charset="0"/>
                <a:ea typeface="Segoe UI Semibold" pitchFamily="34" charset="-122"/>
                <a:cs typeface="Segoe UI Semibold" pitchFamily="34" charset="-120"/>
              </a:rPr>
              <a:t>GANTT CHART</a:t>
            </a:r>
            <a:endParaRPr lang="en-US" sz="4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47120" cy="914400"/>
        </p:xfrm>
        <a:graphic>
          <a:graphicData uri="http://schemas.openxmlformats.org/drawingml/2006/table">
            <a:tbl>
              <a:tblPr/>
              <a:tblGrid>
                <a:gridCol w="2834640"/>
                <a:gridCol w="764438"/>
                <a:gridCol w="764438"/>
                <a:gridCol w="764438"/>
                <a:gridCol w="764438"/>
                <a:gridCol w="764438"/>
                <a:gridCol w="764438"/>
                <a:gridCol w="764438"/>
                <a:gridCol w="764438"/>
                <a:gridCol w="764438"/>
                <a:gridCol w="764438"/>
                <a:gridCol w="764438"/>
              </a:tblGrid>
              <a:tr h="502920">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Task</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W1-2</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W3-4</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W5-6</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W7-8</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W9-10</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W11-12</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W13-14</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W15-16</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W17-18</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W19-20</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050" b="1" dirty="0">
                          <a:solidFill>
                            <a:srgbClr val="FFFFFF"/>
                          </a:solidFill>
                          <a:latin typeface="Segoe UI" pitchFamily="34" charset="0"/>
                          <a:ea typeface="Segoe UI" pitchFamily="34" charset="-122"/>
                          <a:cs typeface="Segoe UI" pitchFamily="34" charset="-120"/>
                        </a:rPr>
                        <a:t>W21-22</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Research &amp; OCR study</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Extraction pipeline</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Question bank + review</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Core app (auth, quiz, streaks, XP)</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Gamification &amp; teacher dashboard</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Syllabus update + P6 Math</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626"/>
                          </a:solidFill>
                          <a:latin typeface="Segoe UI" pitchFamily="34" charset="0"/>
                          <a:ea typeface="Segoe UI" pitchFamily="34" charset="-122"/>
                          <a:cs typeface="Segoe UI" pitchFamily="34" charset="-120"/>
                        </a:rPr>
                        <a:t>Performance, testing, deploy</a:t>
                      </a:r>
                      <a:endParaRPr lang="en-US" sz="10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FFFFFF"/>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c>
                  <a:txBody>
                    <a:bodyPr/>
                    <a:lstStyle/>
                    <a:p>
                      <a:pPr indent="0" marL="0">
                        <a:buNone/>
                      </a:pPr>
                      <a:endParaRPr lang="en-US" sz="1200" dirty="0"/>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B5673A"/>
                    </a:solidFill>
                  </a:tcPr>
                </a:tc>
              </a:tr>
            </a:tbl>
          </a:graphicData>
        </a:graphic>
      </p:graphicFrame>
      <p:sp>
        <p:nvSpPr>
          <p:cNvPr id="6" name="Text 3"/>
          <p:cNvSpPr/>
          <p:nvPr/>
        </p:nvSpPr>
        <p:spPr>
          <a:xfrm>
            <a:off x="457200" y="5989320"/>
            <a:ext cx="11247120" cy="457200"/>
          </a:xfrm>
          <a:prstGeom prst="rect">
            <a:avLst/>
          </a:prstGeom>
          <a:noFill/>
          <a:ln/>
        </p:spPr>
        <p:txBody>
          <a:bodyPr wrap="square" rtlCol="0" anchor="ctr"/>
          <a:lstStyle/>
          <a:p>
            <a:pPr algn="ctr" indent="0" marL="0">
              <a:buNone/>
            </a:pPr>
            <a:r>
              <a:rPr lang="en-US" sz="1200" i="1" dirty="0">
                <a:solidFill>
                  <a:srgbClr val="6B6B6B"/>
                </a:solidFill>
                <a:latin typeface="Segoe UI" pitchFamily="34" charset="0"/>
                <a:ea typeface="Segoe UI" pitchFamily="34" charset="-122"/>
                <a:cs typeface="Segoe UI" pitchFamily="34" charset="-120"/>
              </a:rPr>
              <a:t>Each phase built on the last. The pipeline made the content, the app turned it into a study loop, then both were extended to new levels and a new subject.</a:t>
            </a:r>
            <a:endParaRPr lang="en-US" sz="1200" dirty="0"/>
          </a:p>
        </p:txBody>
      </p:sp>
      <p:sp>
        <p:nvSpPr>
          <p:cNvPr id="7"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22 WEEKS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DESIGN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KEY DECISIONS &amp; TRADE-OFFS</a:t>
            </a:r>
            <a:endParaRPr lang="en-US" sz="1100" dirty="0"/>
          </a:p>
        </p:txBody>
      </p:sp>
      <p:sp>
        <p:nvSpPr>
          <p:cNvPr id="5" name="Text 3"/>
          <p:cNvSpPr/>
          <p:nvPr/>
        </p:nvSpPr>
        <p:spPr>
          <a:xfrm>
            <a:off x="548640" y="1234440"/>
            <a:ext cx="6949440" cy="4754880"/>
          </a:xfrm>
          <a:prstGeom prst="rect">
            <a:avLst/>
          </a:prstGeom>
          <a:noFill/>
          <a:ln/>
        </p:spPr>
        <p:txBody>
          <a:bodyPr wrap="square" rtlCol="0" anchor="t"/>
          <a:lstStyle/>
          <a:p>
            <a:pPr marL="342900" indent="-342900">
              <a:lnSpc>
                <a:spcPct val="104000"/>
              </a:lnSpc>
              <a:buSzPct val="100000"/>
              <a:buChar char="•"/>
            </a:pPr>
            <a:r>
              <a:rPr lang="en-US" sz="1500" b="1" dirty="0">
                <a:solidFill>
                  <a:srgbClr val="262626"/>
                </a:solidFill>
                <a:latin typeface="Segoe UI" pitchFamily="34" charset="0"/>
                <a:ea typeface="Segoe UI" pitchFamily="34" charset="-122"/>
                <a:cs typeface="Segoe UI" pitchFamily="34" charset="-120"/>
              </a:rPr>
              <a:t>One FastAPI app, run as a single process</a:t>
            </a:r>
            <a:endParaRPr lang="en-US" sz="1500" dirty="0"/>
          </a:p>
          <a:p>
            <a:pPr lvl="1" indent="0" marL="0">
              <a:lnSpc>
                <a:spcPct val="104000"/>
              </a:lnSpc>
              <a:spcAft>
                <a:spcPts val="800"/>
              </a:spcAft>
              <a:buNone/>
            </a:pPr>
            <a:r>
              <a:rPr lang="en-US" sz="1300" dirty="0">
                <a:solidFill>
                  <a:srgbClr val="6B6B6B"/>
                </a:solidFill>
                <a:latin typeface="Segoe UI" pitchFamily="34" charset="0"/>
                <a:ea typeface="Segoe UI" pitchFamily="34" charset="-122"/>
                <a:cs typeface="Segoe UI" pitchFamily="34" charset="-120"/>
              </a:rPr>
              <a:t>Simple to iterate as a solo developer, and keeps the in-memory caches correct (scale later with Redis).</a:t>
            </a:r>
            <a:endParaRPr lang="en-US" sz="1500" dirty="0"/>
          </a:p>
          <a:p>
            <a:pPr marL="342900" indent="-342900">
              <a:lnSpc>
                <a:spcPct val="104000"/>
              </a:lnSpc>
              <a:buSzPct val="100000"/>
              <a:buChar char="•"/>
            </a:pPr>
            <a:r>
              <a:rPr lang="en-US" sz="1500" b="1" dirty="0">
                <a:solidFill>
                  <a:srgbClr val="262626"/>
                </a:solidFill>
                <a:latin typeface="Segoe UI" pitchFamily="34" charset="0"/>
                <a:ea typeface="Segoe UI" pitchFamily="34" charset="-122"/>
                <a:cs typeface="Segoe UI" pitchFamily="34" charset="-120"/>
              </a:rPr>
              <a:t>Load the whole bank into memory once</a:t>
            </a:r>
            <a:endParaRPr lang="en-US" sz="1500" dirty="0"/>
          </a:p>
          <a:p>
            <a:pPr lvl="1" indent="0" marL="0">
              <a:lnSpc>
                <a:spcPct val="104000"/>
              </a:lnSpc>
              <a:spcAft>
                <a:spcPts val="800"/>
              </a:spcAft>
              <a:buNone/>
            </a:pPr>
            <a:r>
              <a:rPr lang="en-US" sz="1300" dirty="0">
                <a:solidFill>
                  <a:srgbClr val="6B6B6B"/>
                </a:solidFill>
                <a:latin typeface="Segoe UI" pitchFamily="34" charset="0"/>
                <a:ea typeface="Segoe UI" pitchFamily="34" charset="-122"/>
                <a:cs typeface="Segoe UI" pitchFamily="34" charset="-120"/>
              </a:rPr>
              <a:t>Fast quizzes served from RAM (an edit needs a restart).</a:t>
            </a:r>
            <a:endParaRPr lang="en-US" sz="1500" dirty="0"/>
          </a:p>
          <a:p>
            <a:pPr marL="342900" indent="-342900">
              <a:lnSpc>
                <a:spcPct val="104000"/>
              </a:lnSpc>
              <a:buSzPct val="100000"/>
              <a:buChar char="•"/>
            </a:pPr>
            <a:r>
              <a:rPr lang="en-US" sz="1500" b="1" dirty="0">
                <a:solidFill>
                  <a:srgbClr val="262626"/>
                </a:solidFill>
                <a:latin typeface="Segoe UI" pitchFamily="34" charset="0"/>
                <a:ea typeface="Segoe UI" pitchFamily="34" charset="-122"/>
                <a:cs typeface="Segoe UI" pitchFamily="34" charset="-120"/>
              </a:rPr>
              <a:t>Split questions in code, interpret with a human in the loop</a:t>
            </a:r>
            <a:endParaRPr lang="en-US" sz="1500" dirty="0"/>
          </a:p>
          <a:p>
            <a:pPr lvl="1" indent="0" marL="0">
              <a:lnSpc>
                <a:spcPct val="104000"/>
              </a:lnSpc>
              <a:spcAft>
                <a:spcPts val="800"/>
              </a:spcAft>
              <a:buNone/>
            </a:pPr>
            <a:r>
              <a:rPr lang="en-US" sz="1300" dirty="0">
                <a:solidFill>
                  <a:srgbClr val="6B6B6B"/>
                </a:solidFill>
                <a:latin typeface="Segoe UI" pitchFamily="34" charset="0"/>
                <a:ea typeface="Segoe UI" pitchFamily="34" charset="-122"/>
                <a:cs typeface="Segoe UI" pitchFamily="34" charset="-120"/>
              </a:rPr>
              <a:t>Deterministic code splits by page structure, and I interpret content with Claude.</a:t>
            </a:r>
            <a:endParaRPr lang="en-US" sz="1500" dirty="0"/>
          </a:p>
          <a:p>
            <a:pPr marL="342900" indent="-342900">
              <a:lnSpc>
                <a:spcPct val="104000"/>
              </a:lnSpc>
              <a:buSzPct val="100000"/>
              <a:buChar char="•"/>
            </a:pPr>
            <a:r>
              <a:rPr lang="en-US" sz="1500" b="1" dirty="0">
                <a:solidFill>
                  <a:srgbClr val="262626"/>
                </a:solidFill>
                <a:latin typeface="Segoe UI" pitchFamily="34" charset="0"/>
                <a:ea typeface="Segoe UI" pitchFamily="34" charset="-122"/>
                <a:cs typeface="Segoe UI" pitchFamily="34" charset="-120"/>
              </a:rPr>
              <a:t>Experience points, not grade-style ranks</a:t>
            </a:r>
            <a:endParaRPr lang="en-US" sz="1500" dirty="0"/>
          </a:p>
          <a:p>
            <a:pPr lvl="1" indent="0" marL="0">
              <a:lnSpc>
                <a:spcPct val="104000"/>
              </a:lnSpc>
              <a:buNone/>
            </a:pPr>
            <a:r>
              <a:rPr lang="en-US" sz="1300" dirty="0">
                <a:solidFill>
                  <a:srgbClr val="6B6B6B"/>
                </a:solidFill>
                <a:latin typeface="Segoe UI" pitchFamily="34" charset="0"/>
                <a:ea typeface="Segoe UI" pitchFamily="34" charset="-122"/>
                <a:cs typeface="Segoe UI" pitchFamily="34" charset="-120"/>
              </a:rPr>
              <a:t>Rewards consistency and never falls after a bad day.</a:t>
            </a:r>
            <a:endParaRPr lang="en-US" sz="1500" dirty="0"/>
          </a:p>
        </p:txBody>
      </p:sp>
      <p:pic>
        <p:nvPicPr>
          <p:cNvPr id="6" name="Image 0" descr="/sessions/kind-inspiring-mendel/mnt/quizMaker/ooka_architecture.png">    </p:cNvPr>
          <p:cNvPicPr>
            <a:picLocks noChangeAspect="1"/>
          </p:cNvPicPr>
          <p:nvPr/>
        </p:nvPicPr>
        <p:blipFill>
          <a:blip r:embed="rId1"/>
          <a:stretch>
            <a:fillRect/>
          </a:stretch>
        </p:blipFill>
        <p:spPr>
          <a:xfrm>
            <a:off x="7635240" y="2286000"/>
            <a:ext cx="4114800" cy="3238348"/>
          </a:xfrm>
          <a:prstGeom prst="rect">
            <a:avLst/>
          </a:prstGeom>
        </p:spPr>
      </p:pic>
      <p:sp>
        <p:nvSpPr>
          <p:cNvPr id="7"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DESIGN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DESIGN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457200" y="713232"/>
            <a:ext cx="11247120" cy="685800"/>
          </a:xfrm>
          <a:prstGeom prst="rect">
            <a:avLst/>
          </a:prstGeom>
          <a:noFill/>
          <a:ln/>
        </p:spPr>
        <p:txBody>
          <a:bodyPr wrap="square" rtlCol="0" anchor="ctr"/>
          <a:lstStyle/>
          <a:p>
            <a:pPr algn="ctr" indent="0" marL="0">
              <a:buNone/>
            </a:pPr>
            <a:r>
              <a:rPr lang="en-US" sz="3400" b="1" dirty="0">
                <a:solidFill>
                  <a:srgbClr val="B5673A"/>
                </a:solidFill>
                <a:latin typeface="Segoe UI Semibold" pitchFamily="34" charset="0"/>
                <a:ea typeface="Segoe UI Semibold" pitchFamily="34" charset="-122"/>
                <a:cs typeface="Segoe UI Semibold" pitchFamily="34" charset="-120"/>
              </a:rPr>
              <a:t>TECH STACK</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1828800"/>
                <a:gridCol w="2377440"/>
                <a:gridCol w="3200400"/>
                <a:gridCol w="3840480"/>
              </a:tblGrid>
              <a:tr h="502920">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Purpose</a:t>
                      </a:r>
                      <a:endParaRPr lang="en-US" sz="12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Technology</a:t>
                      </a:r>
                      <a:endParaRPr lang="en-US" sz="12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What is it?</a:t>
                      </a:r>
                      <a:endParaRPr lang="en-US" sz="12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Why chosen</a:t>
                      </a:r>
                      <a:endParaRPr lang="en-US" sz="125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262626"/>
                    </a:solidFill>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Front end</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React · Vite · Tailwind</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Component-based web UI</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Fast, modern, mobile-first interface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Back end</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FastAPI (Python)</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High-performance Python API</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Rapid iteration for a solo developer</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User database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MySQL</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Relational database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Reliable store for accounts, XP, streaks</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Content store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Google Sheets + Drive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Spreadsheet + file storage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Teachers edit questions without a developer</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Text extraction</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PyMuPDF + EasyOCR</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PDF text reader + OCR engine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Reads digital PDFs directly, EasyOCR for scans</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Interpretation</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Claude (AI assistant)</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Used interactively, not in the code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Human-in-the-loop: answers, explanations, tags</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solidFill>
                      <a:srgbClr val="E4EFE8"/>
                    </a:solidFill>
                  </a:tcPr>
                </a:tc>
              </a:tr>
              <a:tr h="502920">
                <a:tc>
                  <a:txBody>
                    <a:bodyPr/>
                    <a:lstStyle/>
                    <a:p>
                      <a:pPr algn="l" indent="0" marL="0">
                        <a:buNone/>
                      </a:pPr>
                      <a:r>
                        <a:rPr lang="en-US" sz="1100" b="1" dirty="0">
                          <a:solidFill>
                            <a:srgbClr val="262626"/>
                          </a:solidFill>
                          <a:latin typeface="Segoe UI" pitchFamily="34" charset="0"/>
                          <a:ea typeface="Segoe UI" pitchFamily="34" charset="-122"/>
                          <a:cs typeface="Segoe UI" pitchFamily="34" charset="-120"/>
                        </a:rPr>
                        <a:t>Hosting</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ctr" indent="0" marL="0">
                        <a:buNone/>
                      </a:pPr>
                      <a:r>
                        <a:rPr lang="en-US" sz="1100" dirty="0">
                          <a:solidFill>
                            <a:srgbClr val="262626"/>
                          </a:solidFill>
                          <a:latin typeface="Segoe UI" pitchFamily="34" charset="0"/>
                          <a:ea typeface="Segoe UI" pitchFamily="34" charset="-122"/>
                          <a:cs typeface="Segoe UI" pitchFamily="34" charset="-120"/>
                        </a:rPr>
                        <a:t>Cloudflare · Render · Railway</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Cloud platforms (SG region)</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c>
                  <a:txBody>
                    <a:bodyPr/>
                    <a:lstStyle/>
                    <a:p>
                      <a:pPr algn="l" indent="0" marL="0">
                        <a:buNone/>
                      </a:pPr>
                      <a:r>
                        <a:rPr lang="en-US" sz="1100" dirty="0">
                          <a:solidFill>
                            <a:srgbClr val="262626"/>
                          </a:solidFill>
                          <a:latin typeface="Segoe UI" pitchFamily="34" charset="0"/>
                          <a:ea typeface="Segoe UI" pitchFamily="34" charset="-122"/>
                          <a:cs typeface="Segoe UI" pitchFamily="34" charset="-120"/>
                        </a:rPr>
                        <a:t>Cheap, simple, no servers to manage</a:t>
                      </a:r>
                      <a:endParaRPr lang="en-US" sz="1100" dirty="0">
                        <a:latin typeface="Segoe UI" charset="0"/>
                        <a:ea typeface="Segoe UI" charset="0"/>
                        <a:cs typeface="Segoe UI" charset="0"/>
                      </a:endParaRPr>
                    </a:p>
                  </a:txBody>
                  <a:tcPr marL="91440" marR="91440" marT="45720" marB="45720" anchor="ctr">
                    <a:lnL w="6350" cap="flat" cmpd="sng" algn="ctr">
                      <a:solidFill>
                        <a:srgbClr val="D8D2C2"/>
                      </a:solidFill>
                      <a:prstDash val="solid"/>
                      <a:round/>
                      <a:headEnd type="none" w="med" len="med"/>
                      <a:tailEnd type="none" w="med" len="med"/>
                    </a:lnL>
                    <a:lnR w="6350" cap="flat" cmpd="sng" algn="ctr">
                      <a:solidFill>
                        <a:srgbClr val="D8D2C2"/>
                      </a:solidFill>
                      <a:prstDash val="solid"/>
                      <a:round/>
                      <a:headEnd type="none" w="med" len="med"/>
                      <a:tailEnd type="none" w="med" len="med"/>
                    </a:lnR>
                    <a:lnT w="6350" cap="flat" cmpd="sng" algn="ctr">
                      <a:solidFill>
                        <a:srgbClr val="D8D2C2"/>
                      </a:solidFill>
                      <a:prstDash val="solid"/>
                      <a:round/>
                      <a:headEnd type="none" w="med" len="med"/>
                      <a:tailEnd type="none" w="med" len="med"/>
                    </a:lnT>
                    <a:lnB w="6350" cap="flat" cmpd="sng" algn="ctr">
                      <a:solidFill>
                        <a:srgbClr val="D8D2C2"/>
                      </a:solidFill>
                      <a:prstDash val="solid"/>
                      <a:round/>
                      <a:headEnd type="none" w="med" len="med"/>
                      <a:tailEnd type="none" w="med" len="med"/>
                    </a:lnB>
                  </a:tcPr>
                </a:tc>
              </a:tr>
            </a:tbl>
          </a:graphicData>
        </a:graphic>
      </p:graphicFrame>
      <p:sp>
        <p:nvSpPr>
          <p:cNvPr id="6" name="Text 3"/>
          <p:cNvSpPr/>
          <p:nvPr/>
        </p:nvSpPr>
        <p:spPr>
          <a:xfrm>
            <a:off x="457200" y="6263640"/>
            <a:ext cx="11247120" cy="274320"/>
          </a:xfrm>
          <a:prstGeom prst="rect">
            <a:avLst/>
          </a:prstGeom>
          <a:noFill/>
          <a:ln/>
        </p:spPr>
        <p:txBody>
          <a:bodyPr wrap="square" rtlCol="0" anchor="ctr"/>
          <a:lstStyle/>
          <a:p>
            <a:pPr algn="ctr" indent="0" marL="0">
              <a:buNone/>
            </a:pPr>
            <a:r>
              <a:rPr lang="en-US" sz="1100" i="1" dirty="0">
                <a:solidFill>
                  <a:srgbClr val="6B6B6B"/>
                </a:solidFill>
                <a:latin typeface="Segoe UI" pitchFamily="34" charset="0"/>
                <a:ea typeface="Segoe UI" pitchFamily="34" charset="-122"/>
                <a:cs typeface="Segoe UI" pitchFamily="34" charset="-120"/>
              </a:rPr>
              <a:t>Splitting is done in code. The highlighted rows are the content and interpretation layer that make the pipeline work.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DESIGN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457200" y="713232"/>
            <a:ext cx="11247120" cy="685800"/>
          </a:xfrm>
          <a:prstGeom prst="rect">
            <a:avLst/>
          </a:prstGeom>
          <a:noFill/>
          <a:ln/>
        </p:spPr>
        <p:txBody>
          <a:bodyPr wrap="square" rtlCol="0" anchor="ctr"/>
          <a:lstStyle/>
          <a:p>
            <a:pPr algn="ctr" indent="0" marL="0">
              <a:buNone/>
            </a:pPr>
            <a:r>
              <a:rPr lang="en-US" sz="3200" b="1" dirty="0">
                <a:solidFill>
                  <a:srgbClr val="B5673A"/>
                </a:solidFill>
                <a:latin typeface="Segoe UI Semibold" pitchFamily="34" charset="0"/>
                <a:ea typeface="Segoe UI Semibold" pitchFamily="34" charset="-122"/>
                <a:cs typeface="Segoe UI Semibold" pitchFamily="34" charset="-120"/>
              </a:rPr>
              <a:t>SYSTEM ARCHITECTURE</a:t>
            </a:r>
            <a:endParaRPr lang="en-US" sz="3200" dirty="0"/>
          </a:p>
        </p:txBody>
      </p:sp>
      <p:pic>
        <p:nvPicPr>
          <p:cNvPr id="5" name="Image 0" descr="/sessions/kind-inspiring-mendel/mnt/quizMaker/ooka_architecture.png">    </p:cNvPr>
          <p:cNvPicPr>
            <a:picLocks noChangeAspect="1"/>
          </p:cNvPicPr>
          <p:nvPr/>
        </p:nvPicPr>
        <p:blipFill>
          <a:blip r:embed="rId1"/>
          <a:stretch>
            <a:fillRect/>
          </a:stretch>
        </p:blipFill>
        <p:spPr>
          <a:xfrm>
            <a:off x="2423160" y="1600200"/>
            <a:ext cx="7315200" cy="5757062"/>
          </a:xfrm>
          <a:prstGeom prst="rect">
            <a:avLst/>
          </a:prstGeom>
        </p:spPr>
      </p:pic>
      <p:sp>
        <p:nvSpPr>
          <p:cNvPr id="6" name="Text 3"/>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DESIGN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457200" y="713232"/>
            <a:ext cx="11247120" cy="685800"/>
          </a:xfrm>
          <a:prstGeom prst="rect">
            <a:avLst/>
          </a:prstGeom>
          <a:noFill/>
          <a:ln/>
        </p:spPr>
        <p:txBody>
          <a:bodyPr wrap="square" rtlCol="0" anchor="ctr"/>
          <a:lstStyle/>
          <a:p>
            <a:pPr algn="ctr" indent="0" marL="0">
              <a:buNone/>
            </a:pPr>
            <a:r>
              <a:rPr lang="en-US" sz="3400" b="1" dirty="0">
                <a:solidFill>
                  <a:srgbClr val="B5673A"/>
                </a:solidFill>
                <a:latin typeface="Segoe UI Semibold" pitchFamily="34" charset="0"/>
                <a:ea typeface="Segoe UI Semibold" pitchFamily="34" charset="-122"/>
                <a:cs typeface="Segoe UI Semibold" pitchFamily="34" charset="-120"/>
              </a:rPr>
              <a:t>DATA FLOW</a:t>
            </a:r>
            <a:endParaRPr lang="en-US" sz="3400" dirty="0"/>
          </a:p>
        </p:txBody>
      </p:sp>
      <p:pic>
        <p:nvPicPr>
          <p:cNvPr id="5" name="Image 0" descr="/sessions/kind-inspiring-mendel/mnt/quizMaker/ooka_dataflow.png">    </p:cNvPr>
          <p:cNvPicPr>
            <a:picLocks noChangeAspect="1"/>
          </p:cNvPicPr>
          <p:nvPr/>
        </p:nvPicPr>
        <p:blipFill>
          <a:blip r:embed="rId1"/>
          <a:stretch>
            <a:fillRect/>
          </a:stretch>
        </p:blipFill>
        <p:spPr>
          <a:xfrm>
            <a:off x="1737360" y="1554480"/>
            <a:ext cx="8686800" cy="3948151"/>
          </a:xfrm>
          <a:prstGeom prst="rect">
            <a:avLst/>
          </a:prstGeom>
        </p:spPr>
      </p:pic>
      <p:sp>
        <p:nvSpPr>
          <p:cNvPr id="6" name="Text 3"/>
          <p:cNvSpPr/>
          <p:nvPr/>
        </p:nvSpPr>
        <p:spPr>
          <a:xfrm>
            <a:off x="914400" y="5806440"/>
            <a:ext cx="10332720" cy="548640"/>
          </a:xfrm>
          <a:prstGeom prst="rect">
            <a:avLst/>
          </a:prstGeom>
          <a:noFill/>
          <a:ln/>
        </p:spPr>
        <p:txBody>
          <a:bodyPr wrap="square" rtlCol="0" anchor="ctr"/>
          <a:lstStyle/>
          <a:p>
            <a:pPr algn="ctr" indent="0" marL="0">
              <a:buNone/>
            </a:pPr>
            <a:r>
              <a:rPr lang="en-US" sz="1300" i="1" dirty="0">
                <a:solidFill>
                  <a:srgbClr val="6B6B6B"/>
                </a:solidFill>
                <a:latin typeface="Segoe UI" pitchFamily="34" charset="0"/>
                <a:ea typeface="Segoe UI" pitchFamily="34" charset="-122"/>
                <a:cs typeface="Segoe UI" pitchFamily="34" charset="-120"/>
              </a:rPr>
              <a:t>A paper is converted to PDF, its text and diagrams are extracted in code, I review the result with Claude, then an upload script stores it in Google Sheets and Drive.</a:t>
            </a:r>
            <a:endParaRPr lang="en-US" sz="1300" dirty="0"/>
          </a:p>
        </p:txBody>
      </p:sp>
      <p:sp>
        <p:nvSpPr>
          <p:cNvPr id="7"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WEEKS 1 – 6</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THE EXTRACTION PIPELINE, RUN ONE PAPER AT A TIME</a:t>
            </a:r>
            <a:endParaRPr lang="en-US" sz="1100" dirty="0"/>
          </a:p>
        </p:txBody>
      </p:sp>
      <p:sp>
        <p:nvSpPr>
          <p:cNvPr id="5" name="Text 3"/>
          <p:cNvSpPr/>
          <p:nvPr/>
        </p:nvSpPr>
        <p:spPr>
          <a:xfrm>
            <a:off x="548640" y="1417320"/>
            <a:ext cx="6675120" cy="4754880"/>
          </a:xfrm>
          <a:prstGeom prst="rect">
            <a:avLst/>
          </a:prstGeom>
          <a:noFill/>
          <a:ln/>
        </p:spPr>
        <p:txBody>
          <a:bodyPr wrap="square" rtlCol="0" anchor="t"/>
          <a:lstStyle/>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Word documents are converted to PDF (some diagrams are Word shapes that only render via Word's export).</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PyMuPDF reads the text of digital PDFs, and EasyOCR handles scanned pages.</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The pipeline splits each paper into questions by page structure and crops the diagrams, all in deterministic code.</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It outputs cropped images plus machine-readable files: a diagram mapping, an answer key, and the detected paper level.</a:t>
            </a:r>
            <a:endParaRPr lang="en-US" sz="1450" dirty="0"/>
          </a:p>
        </p:txBody>
      </p:sp>
      <p:pic>
        <p:nvPicPr>
          <p:cNvPr id="6" name="Image 0" descr="/sessions/kind-inspiring-mendel/mnt/quizMaker/old_bank.png">    </p:cNvPr>
          <p:cNvPicPr>
            <a:picLocks noChangeAspect="1"/>
          </p:cNvPicPr>
          <p:nvPr/>
        </p:nvPicPr>
        <p:blipFill>
          <a:blip r:embed="rId1"/>
          <a:stretch>
            <a:fillRect/>
          </a:stretch>
        </p:blipFill>
        <p:spPr>
          <a:xfrm>
            <a:off x="7452360" y="1554480"/>
            <a:ext cx="4297680" cy="2949068"/>
          </a:xfrm>
          <a:prstGeom prst="rect">
            <a:avLst/>
          </a:prstGeom>
        </p:spPr>
      </p:pic>
      <p:sp>
        <p:nvSpPr>
          <p:cNvPr id="7"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WEEKS 1 – 6</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READING TEXT FROM DIGITAL AND SCANNED PAPERS</a:t>
            </a:r>
            <a:endParaRPr lang="en-US" sz="1100" dirty="0"/>
          </a:p>
        </p:txBody>
      </p:sp>
      <p:pic>
        <p:nvPicPr>
          <p:cNvPr id="5" name="Image 0" descr="/sessions/kind-inspiring-mendel/mnt/quizMaker/ocr_diagram.png">    </p:cNvPr>
          <p:cNvPicPr>
            <a:picLocks noChangeAspect="1"/>
          </p:cNvPicPr>
          <p:nvPr/>
        </p:nvPicPr>
        <p:blipFill>
          <a:blip r:embed="rId1"/>
          <a:stretch>
            <a:fillRect/>
          </a:stretch>
        </p:blipFill>
        <p:spPr>
          <a:xfrm>
            <a:off x="1280160" y="1417320"/>
            <a:ext cx="9601200" cy="3195279"/>
          </a:xfrm>
          <a:prstGeom prst="rect">
            <a:avLst/>
          </a:prstGeom>
        </p:spPr>
      </p:pic>
      <p:sp>
        <p:nvSpPr>
          <p:cNvPr id="6" name="Text 3"/>
          <p:cNvSpPr/>
          <p:nvPr/>
        </p:nvSpPr>
        <p:spPr>
          <a:xfrm>
            <a:off x="822960" y="4709160"/>
            <a:ext cx="10515600" cy="4754880"/>
          </a:xfrm>
          <a:prstGeom prst="rect">
            <a:avLst/>
          </a:prstGeom>
          <a:noFill/>
          <a:ln/>
        </p:spPr>
        <p:txBody>
          <a:bodyPr wrap="square" rtlCol="0" anchor="t"/>
          <a:lstStyle/>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Most papers are digital PDFs, so the text layer is read directly with PyMuPDF, no OCR needed.</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Scanned papers use EasyOCR (pytesseract only as a fallback for answer-key grids).</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OCR reads text but not diagrams, so each figure is cropped on a separate path.</a:t>
            </a:r>
            <a:endParaRPr lang="en-US" sz="1400" dirty="0"/>
          </a:p>
        </p:txBody>
      </p:sp>
      <p:sp>
        <p:nvSpPr>
          <p:cNvPr id="7"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WEEKS 1 – 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THE STEP THAT CANNOT BE CODE, A HUMAN-IN-THE-LOOP REVIEW</a:t>
            </a:r>
            <a:endParaRPr lang="en-US" sz="1100" dirty="0"/>
          </a:p>
        </p:txBody>
      </p:sp>
      <p:sp>
        <p:nvSpPr>
          <p:cNvPr id="5" name="Text 3"/>
          <p:cNvSpPr/>
          <p:nvPr/>
        </p:nvSpPr>
        <p:spPr>
          <a:xfrm>
            <a:off x="548640" y="1371600"/>
            <a:ext cx="6766560" cy="4754880"/>
          </a:xfrm>
          <a:prstGeom prst="rect">
            <a:avLst/>
          </a:prstGeom>
          <a:noFill/>
          <a:ln/>
        </p:spPr>
        <p:txBody>
          <a:bodyPr wrap="square" rtlCol="0" anchor="t"/>
          <a:lstStyle/>
          <a:p>
            <a:pPr indent="0" marL="0">
              <a:lnSpc>
                <a:spcPct val="104000"/>
              </a:lnSpc>
              <a:spcAft>
                <a:spcPts val="1000"/>
              </a:spcAft>
              <a:buNone/>
            </a:pPr>
            <a:r>
              <a:rPr lang="en-US" sz="1500" dirty="0">
                <a:solidFill>
                  <a:srgbClr val="262626"/>
                </a:solidFill>
                <a:latin typeface="Segoe UI" pitchFamily="34" charset="0"/>
                <a:ea typeface="Segoe UI" pitchFamily="34" charset="-122"/>
                <a:cs typeface="Segoe UI" pitchFamily="34" charset="-120"/>
              </a:rPr>
              <a:t>For each question the pipeline produces a skeleton record holding the text, options, mapped diagram and extracted answer, with the interpretive fields left blank.</a:t>
            </a:r>
            <a:endParaRPr lang="en-US" sz="1500" dirty="0"/>
          </a:p>
          <a:p>
            <a:pPr indent="0" marL="0">
              <a:lnSpc>
                <a:spcPct val="104000"/>
              </a:lnSpc>
              <a:spcAft>
                <a:spcPts val="600"/>
              </a:spcAft>
              <a:buNone/>
            </a:pPr>
            <a:r>
              <a:rPr lang="en-US" sz="1500" b="1" dirty="0">
                <a:solidFill>
                  <a:srgbClr val="262626"/>
                </a:solidFill>
                <a:latin typeface="Segoe UI" pitchFamily="34" charset="0"/>
                <a:ea typeface="Segoe UI" pitchFamily="34" charset="-122"/>
                <a:cs typeface="Segoe UI" pitchFamily="34" charset="-120"/>
              </a:rPr>
              <a:t>Working through that skeleton with Claude, I fill in what the automated steps cannot:</a:t>
            </a:r>
            <a:endParaRPr lang="en-US" sz="1500" dirty="0"/>
          </a:p>
        </p:txBody>
      </p:sp>
      <p:sp>
        <p:nvSpPr>
          <p:cNvPr id="6" name="Text 4"/>
          <p:cNvSpPr/>
          <p:nvPr/>
        </p:nvSpPr>
        <p:spPr>
          <a:xfrm>
            <a:off x="777240" y="3063240"/>
            <a:ext cx="6492240" cy="4754880"/>
          </a:xfrm>
          <a:prstGeom prst="rect">
            <a:avLst/>
          </a:prstGeom>
          <a:noFill/>
          <a:ln/>
        </p:spPr>
        <p:txBody>
          <a:bodyPr wrap="square" rtlCol="0" anchor="t"/>
          <a:lstStyle/>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Confirm or correct the answer.</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Write a short explanation where the marking scheme gives only a letter.</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Tag the topic against the scheme of work.</a:t>
            </a:r>
            <a:endParaRPr lang="en-US" sz="1450" dirty="0"/>
          </a:p>
          <a:p>
            <a:pPr marL="177800" indent="-177800">
              <a:lnSpc>
                <a:spcPct val="104000"/>
              </a:lnSpc>
              <a:spcAft>
                <a:spcPts val="700"/>
              </a:spcAft>
              <a:buSzPct val="100000"/>
              <a:buChar char="•"/>
            </a:pPr>
            <a:r>
              <a:rPr lang="en-US" sz="1450" dirty="0">
                <a:solidFill>
                  <a:srgbClr val="262626"/>
                </a:solidFill>
                <a:latin typeface="Segoe UI" pitchFamily="34" charset="0"/>
                <a:ea typeface="Segoe UI" pitchFamily="34" charset="-122"/>
                <a:cs typeface="Segoe UI" pitchFamily="34" charset="-120"/>
              </a:rPr>
              <a:t>Check each diagram crop against the original by eye.</a:t>
            </a:r>
            <a:endParaRPr lang="en-US" sz="1450" dirty="0"/>
          </a:p>
        </p:txBody>
      </p:sp>
      <p:sp>
        <p:nvSpPr>
          <p:cNvPr id="7" name="Text 5"/>
          <p:cNvSpPr/>
          <p:nvPr/>
        </p:nvSpPr>
        <p:spPr>
          <a:xfrm>
            <a:off x="548640" y="4937760"/>
            <a:ext cx="6766560" cy="4754880"/>
          </a:xfrm>
          <a:prstGeom prst="rect">
            <a:avLst/>
          </a:prstGeom>
          <a:noFill/>
          <a:ln/>
        </p:spPr>
        <p:txBody>
          <a:bodyPr wrap="square" rtlCol="0" anchor="t"/>
          <a:lstStyle/>
          <a:p>
            <a:pPr indent="0" marL="0">
              <a:lnSpc>
                <a:spcPct val="104000"/>
              </a:lnSpc>
              <a:buNone/>
            </a:pPr>
            <a:r>
              <a:rPr lang="en-US" sz="1300" i="1" dirty="0">
                <a:solidFill>
                  <a:srgbClr val="6B6B6B"/>
                </a:solidFill>
                <a:latin typeface="Segoe UI" pitchFamily="34" charset="0"/>
                <a:ea typeface="Segoe UI" pitchFamily="34" charset="-122"/>
                <a:cs typeface="Segoe UI" pitchFamily="34" charset="-120"/>
              </a:rPr>
              <a:t>An upload script then writes the text to Google Sheets and the diagrams to Google Drive. The pipeline stays deterministic code, and Claude assists the review rather than running inside the pipeline.</a:t>
            </a:r>
            <a:endParaRPr lang="en-US" sz="1300" dirty="0"/>
          </a:p>
        </p:txBody>
      </p:sp>
      <p:pic>
        <p:nvPicPr>
          <p:cNvPr id="8" name="Image 0" descr="/sessions/kind-inspiring-mendel/mnt/quizMaker/ooka_04_question_with_diagram.png">    </p:cNvPr>
          <p:cNvPicPr>
            <a:picLocks noChangeAspect="1"/>
          </p:cNvPicPr>
          <p:nvPr/>
        </p:nvPicPr>
        <p:blipFill>
          <a:blip r:embed="rId1"/>
          <a:stretch>
            <a:fillRect/>
          </a:stretch>
        </p:blipFill>
        <p:spPr>
          <a:xfrm>
            <a:off x="7863840" y="1371600"/>
            <a:ext cx="1828800" cy="3497031"/>
          </a:xfrm>
          <a:prstGeom prst="rect">
            <a:avLst/>
          </a:prstGeom>
        </p:spPr>
      </p:pic>
      <p:pic>
        <p:nvPicPr>
          <p:cNvPr id="9" name="Image 1" descr="/sessions/kind-inspiring-mendel/mnt/quizMaker/ooka_05_explanation_feedback.png">    </p:cNvPr>
          <p:cNvPicPr>
            <a:picLocks noChangeAspect="1"/>
          </p:cNvPicPr>
          <p:nvPr/>
        </p:nvPicPr>
        <p:blipFill>
          <a:blip r:embed="rId2"/>
          <a:stretch>
            <a:fillRect/>
          </a:stretch>
        </p:blipFill>
        <p:spPr>
          <a:xfrm>
            <a:off x="9829800" y="1371600"/>
            <a:ext cx="1828800" cy="3497031"/>
          </a:xfrm>
          <a:prstGeom prst="rect">
            <a:avLst/>
          </a:prstGeom>
        </p:spPr>
      </p:pic>
      <p:sp>
        <p:nvSpPr>
          <p:cNvPr id="10" name="Text 6"/>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WEEKS 1 – 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THE OOKA APP, BUILT ON TOP OF THE QUESTION BANK</a:t>
            </a:r>
            <a:endParaRPr lang="en-US" sz="1100" dirty="0"/>
          </a:p>
        </p:txBody>
      </p:sp>
      <p:sp>
        <p:nvSpPr>
          <p:cNvPr id="5" name="Text 3"/>
          <p:cNvSpPr/>
          <p:nvPr/>
        </p:nvSpPr>
        <p:spPr>
          <a:xfrm>
            <a:off x="548640" y="1371600"/>
            <a:ext cx="5760720" cy="4754880"/>
          </a:xfrm>
          <a:prstGeom prst="rect">
            <a:avLst/>
          </a:prstGeom>
          <a:noFill/>
          <a:ln/>
        </p:spPr>
        <p:txBody>
          <a:bodyPr wrap="square" rtlCol="0" anchor="t"/>
          <a:lstStyle/>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Quiz builder: pick level, topics, difficulty and count, with live availability checks.</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Daily challenge as a running counter, with streaks and a weekly freeze.</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XP levelling (never decreases), gems, and an avatar-customisation shop.</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Leaderboard across daily / weekly / all-time.</a:t>
            </a:r>
            <a:endParaRPr lang="en-US" sz="1350" dirty="0"/>
          </a:p>
          <a:p>
            <a:pPr marL="177800" indent="-177800">
              <a:lnSpc>
                <a:spcPct val="104000"/>
              </a:lnSpc>
              <a:spcAft>
                <a:spcPts val="700"/>
              </a:spcAft>
              <a:buSzPct val="100000"/>
              <a:buChar char="•"/>
            </a:pPr>
            <a:r>
              <a:rPr lang="en-US" sz="1350" dirty="0">
                <a:solidFill>
                  <a:srgbClr val="262626"/>
                </a:solidFill>
                <a:latin typeface="Segoe UI" pitchFamily="34" charset="0"/>
                <a:ea typeface="Segoe UI" pitchFamily="34" charset="-122"/>
                <a:cs typeface="Segoe UI" pitchFamily="34" charset="-120"/>
              </a:rPr>
              <a:t>Teacher dashboard: class averages, weakest topics, student consistency.</a:t>
            </a:r>
            <a:endParaRPr lang="en-US" sz="1350" dirty="0"/>
          </a:p>
        </p:txBody>
      </p:sp>
      <p:pic>
        <p:nvPicPr>
          <p:cNvPr id="6" name="Image 0" descr="/sessions/kind-inspiring-mendel/mnt/quizMaker/ooka_01_home.png">    </p:cNvPr>
          <p:cNvPicPr>
            <a:picLocks noChangeAspect="1"/>
          </p:cNvPicPr>
          <p:nvPr/>
        </p:nvPicPr>
        <p:blipFill>
          <a:blip r:embed="rId1"/>
          <a:stretch>
            <a:fillRect/>
          </a:stretch>
        </p:blipFill>
        <p:spPr>
          <a:xfrm>
            <a:off x="6400800" y="1463040"/>
            <a:ext cx="1371600" cy="2716454"/>
          </a:xfrm>
          <a:prstGeom prst="rect">
            <a:avLst/>
          </a:prstGeom>
        </p:spPr>
      </p:pic>
      <p:pic>
        <p:nvPicPr>
          <p:cNvPr id="7" name="Image 1" descr="/sessions/kind-inspiring-mendel/mnt/quizMaker/ooka_03_quiz_builder.png">    </p:cNvPr>
          <p:cNvPicPr>
            <a:picLocks noChangeAspect="1"/>
          </p:cNvPicPr>
          <p:nvPr/>
        </p:nvPicPr>
        <p:blipFill>
          <a:blip r:embed="rId2"/>
          <a:stretch>
            <a:fillRect/>
          </a:stretch>
        </p:blipFill>
        <p:spPr>
          <a:xfrm>
            <a:off x="7818120" y="1463040"/>
            <a:ext cx="1371600" cy="2622774"/>
          </a:xfrm>
          <a:prstGeom prst="rect">
            <a:avLst/>
          </a:prstGeom>
        </p:spPr>
      </p:pic>
      <p:pic>
        <p:nvPicPr>
          <p:cNvPr id="8" name="Image 2" descr="/sessions/kind-inspiring-mendel/mnt/quizMaker/ooka_07_leaderboard.png">    </p:cNvPr>
          <p:cNvPicPr>
            <a:picLocks noChangeAspect="1"/>
          </p:cNvPicPr>
          <p:nvPr/>
        </p:nvPicPr>
        <p:blipFill>
          <a:blip r:embed="rId3"/>
          <a:stretch>
            <a:fillRect/>
          </a:stretch>
        </p:blipFill>
        <p:spPr>
          <a:xfrm>
            <a:off x="9235440" y="1463040"/>
            <a:ext cx="1371600" cy="2622774"/>
          </a:xfrm>
          <a:prstGeom prst="rect">
            <a:avLst/>
          </a:prstGeom>
        </p:spPr>
      </p:pic>
      <p:pic>
        <p:nvPicPr>
          <p:cNvPr id="9" name="Image 3" descr="/sessions/kind-inspiring-mendel/mnt/quizMaker/ooka_06_statistics.png">    </p:cNvPr>
          <p:cNvPicPr>
            <a:picLocks noChangeAspect="1"/>
          </p:cNvPicPr>
          <p:nvPr/>
        </p:nvPicPr>
        <p:blipFill>
          <a:blip r:embed="rId4"/>
          <a:stretch>
            <a:fillRect/>
          </a:stretch>
        </p:blipFill>
        <p:spPr>
          <a:xfrm>
            <a:off x="10652760" y="1463040"/>
            <a:ext cx="1371600" cy="2622774"/>
          </a:xfrm>
          <a:prstGeom prst="rect">
            <a:avLst/>
          </a:prstGeom>
        </p:spPr>
      </p:pic>
      <p:pic>
        <p:nvPicPr>
          <p:cNvPr id="10" name="Image 4" descr="/sessions/kind-inspiring-mendel/mnt/quizMaker/ooka_08_wardrobe_avatar.png">    </p:cNvPr>
          <p:cNvPicPr>
            <a:picLocks noChangeAspect="1"/>
          </p:cNvPicPr>
          <p:nvPr/>
        </p:nvPicPr>
        <p:blipFill>
          <a:blip r:embed="rId5"/>
          <a:stretch>
            <a:fillRect/>
          </a:stretch>
        </p:blipFill>
        <p:spPr>
          <a:xfrm>
            <a:off x="8503920" y="4251960"/>
            <a:ext cx="1371600" cy="2622774"/>
          </a:xfrm>
          <a:prstGeom prst="rect">
            <a:avLst/>
          </a:prstGeom>
        </p:spPr>
      </p:pic>
      <p:pic>
        <p:nvPicPr>
          <p:cNvPr id="11" name="Image 5" descr="/sessions/kind-inspiring-mendel/mnt/quizMaker/ooka_02_subjects.png">    </p:cNvPr>
          <p:cNvPicPr>
            <a:picLocks noChangeAspect="1"/>
          </p:cNvPicPr>
          <p:nvPr/>
        </p:nvPicPr>
        <p:blipFill>
          <a:blip r:embed="rId6"/>
          <a:stretch>
            <a:fillRect/>
          </a:stretch>
        </p:blipFill>
        <p:spPr>
          <a:xfrm>
            <a:off x="7086600" y="4251960"/>
            <a:ext cx="1371600" cy="2716454"/>
          </a:xfrm>
          <a:prstGeom prst="rect">
            <a:avLst/>
          </a:prstGeom>
        </p:spPr>
      </p:pic>
      <p:sp>
        <p:nvSpPr>
          <p:cNvPr id="12"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WEEKS 7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IMPLEMENT</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THE HARDEST PROBLEMS I FACED</a:t>
            </a:r>
            <a:endParaRPr lang="en-US" sz="1100" dirty="0"/>
          </a:p>
        </p:txBody>
      </p:sp>
      <p:sp>
        <p:nvSpPr>
          <p:cNvPr id="5" name="Text 3"/>
          <p:cNvSpPr/>
          <p:nvPr/>
        </p:nvSpPr>
        <p:spPr>
          <a:xfrm>
            <a:off x="548640" y="1371600"/>
            <a:ext cx="548640" cy="548640"/>
          </a:xfrm>
          <a:prstGeom prst="rect">
            <a:avLst/>
          </a:prstGeom>
          <a:noFill/>
          <a:ln/>
        </p:spPr>
        <p:txBody>
          <a:bodyPr wrap="square" rtlCol="0" anchor="ctr"/>
          <a:lstStyle/>
          <a:p>
            <a:pPr indent="0" marL="0">
              <a:buNone/>
            </a:pPr>
            <a:r>
              <a:rPr lang="en-US" sz="2600" b="1" dirty="0">
                <a:solidFill>
                  <a:srgbClr val="B5673A"/>
                </a:solidFill>
                <a:latin typeface="Segoe UI Semibold" pitchFamily="34" charset="0"/>
                <a:ea typeface="Segoe UI Semibold" pitchFamily="34" charset="-122"/>
                <a:cs typeface="Segoe UI Semibold" pitchFamily="34" charset="-120"/>
              </a:rPr>
              <a:t>1</a:t>
            </a:r>
            <a:endParaRPr lang="en-US" sz="2600" dirty="0"/>
          </a:p>
        </p:txBody>
      </p:sp>
      <p:sp>
        <p:nvSpPr>
          <p:cNvPr id="6" name="Text 4"/>
          <p:cNvSpPr/>
          <p:nvPr/>
        </p:nvSpPr>
        <p:spPr>
          <a:xfrm>
            <a:off x="1143000" y="1371600"/>
            <a:ext cx="10424160" cy="365760"/>
          </a:xfrm>
          <a:prstGeom prst="rect">
            <a:avLst/>
          </a:prstGeom>
          <a:noFill/>
          <a:ln/>
        </p:spPr>
        <p:txBody>
          <a:bodyPr wrap="square" rtlCol="0" anchor="ctr"/>
          <a:lstStyle/>
          <a:p>
            <a:pPr indent="0" marL="0">
              <a:buNone/>
            </a:pPr>
            <a:r>
              <a:rPr lang="en-US" sz="1500" b="1" dirty="0">
                <a:solidFill>
                  <a:srgbClr val="262626"/>
                </a:solidFill>
                <a:latin typeface="Segoe UI" pitchFamily="34" charset="0"/>
                <a:ea typeface="Segoe UI" pitchFamily="34" charset="-122"/>
                <a:cs typeface="Segoe UI" pitchFamily="34" charset="-120"/>
              </a:rPr>
              <a:t>Reliable diagram extraction</a:t>
            </a:r>
            <a:endParaRPr lang="en-US" sz="1500" dirty="0"/>
          </a:p>
        </p:txBody>
      </p:sp>
      <p:sp>
        <p:nvSpPr>
          <p:cNvPr id="7" name="Text 5"/>
          <p:cNvSpPr/>
          <p:nvPr/>
        </p:nvSpPr>
        <p:spPr>
          <a:xfrm>
            <a:off x="1143000" y="1755648"/>
            <a:ext cx="10424160" cy="914400"/>
          </a:xfrm>
          <a:prstGeom prst="rect">
            <a:avLst/>
          </a:prstGeom>
          <a:noFill/>
          <a:ln/>
        </p:spPr>
        <p:txBody>
          <a:bodyPr wrap="square" rtlCol="0" anchor="t"/>
          <a:lstStyle/>
          <a:p>
            <a:pPr indent="0" marL="0">
              <a:buNone/>
            </a:pPr>
            <a:r>
              <a:rPr lang="en-US" sz="1250" dirty="0">
                <a:solidFill>
                  <a:srgbClr val="6B6B6B"/>
                </a:solidFill>
                <a:latin typeface="Segoe UI" pitchFamily="34" charset="0"/>
                <a:ea typeface="Segoe UI" pitchFamily="34" charset="-122"/>
                <a:cs typeface="Segoe UI" pitchFamily="34" charset="-120"/>
              </a:rPr>
              <a:t>Every paper is laid out differently, so crops broke constantly. I set an acceptance test of five clean extractions in a row. After AI diagram-recreation proved unreliable, we put the hardest papers (Paper 2) on hold and I focused on getting Paper 1 reliably to that standard.</a:t>
            </a:r>
            <a:endParaRPr lang="en-US" sz="1250" dirty="0"/>
          </a:p>
        </p:txBody>
      </p:sp>
      <p:sp>
        <p:nvSpPr>
          <p:cNvPr id="8" name="Text 6"/>
          <p:cNvSpPr/>
          <p:nvPr/>
        </p:nvSpPr>
        <p:spPr>
          <a:xfrm>
            <a:off x="548640" y="2971800"/>
            <a:ext cx="548640" cy="548640"/>
          </a:xfrm>
          <a:prstGeom prst="rect">
            <a:avLst/>
          </a:prstGeom>
          <a:noFill/>
          <a:ln/>
        </p:spPr>
        <p:txBody>
          <a:bodyPr wrap="square" rtlCol="0" anchor="ctr"/>
          <a:lstStyle/>
          <a:p>
            <a:pPr indent="0" marL="0">
              <a:buNone/>
            </a:pPr>
            <a:r>
              <a:rPr lang="en-US" sz="2600" b="1" dirty="0">
                <a:solidFill>
                  <a:srgbClr val="B5673A"/>
                </a:solidFill>
                <a:latin typeface="Segoe UI Semibold" pitchFamily="34" charset="0"/>
                <a:ea typeface="Segoe UI Semibold" pitchFamily="34" charset="-122"/>
                <a:cs typeface="Segoe UI Semibold" pitchFamily="34" charset="-120"/>
              </a:rPr>
              <a:t>2</a:t>
            </a:r>
            <a:endParaRPr lang="en-US" sz="2600" dirty="0"/>
          </a:p>
        </p:txBody>
      </p:sp>
      <p:sp>
        <p:nvSpPr>
          <p:cNvPr id="9" name="Text 7"/>
          <p:cNvSpPr/>
          <p:nvPr/>
        </p:nvSpPr>
        <p:spPr>
          <a:xfrm>
            <a:off x="1143000" y="2971800"/>
            <a:ext cx="10424160" cy="365760"/>
          </a:xfrm>
          <a:prstGeom prst="rect">
            <a:avLst/>
          </a:prstGeom>
          <a:noFill/>
          <a:ln/>
        </p:spPr>
        <p:txBody>
          <a:bodyPr wrap="square" rtlCol="0" anchor="ctr"/>
          <a:lstStyle/>
          <a:p>
            <a:pPr indent="0" marL="0">
              <a:buNone/>
            </a:pPr>
            <a:r>
              <a:rPr lang="en-US" sz="1500" b="1" dirty="0">
                <a:solidFill>
                  <a:srgbClr val="262626"/>
                </a:solidFill>
                <a:latin typeface="Segoe UI" pitchFamily="34" charset="0"/>
                <a:ea typeface="Segoe UI" pitchFamily="34" charset="-122"/>
                <a:cs typeface="Segoe UI" pitchFamily="34" charset="-120"/>
              </a:rPr>
              <a:t>Streak and freeze logic edge cases</a:t>
            </a:r>
            <a:endParaRPr lang="en-US" sz="1500" dirty="0"/>
          </a:p>
        </p:txBody>
      </p:sp>
      <p:sp>
        <p:nvSpPr>
          <p:cNvPr id="10" name="Text 8"/>
          <p:cNvSpPr/>
          <p:nvPr/>
        </p:nvSpPr>
        <p:spPr>
          <a:xfrm>
            <a:off x="1143000" y="3355848"/>
            <a:ext cx="10424160" cy="914400"/>
          </a:xfrm>
          <a:prstGeom prst="rect">
            <a:avLst/>
          </a:prstGeom>
          <a:noFill/>
          <a:ln/>
        </p:spPr>
        <p:txBody>
          <a:bodyPr wrap="square" rtlCol="0" anchor="t"/>
          <a:lstStyle/>
          <a:p>
            <a:pPr indent="0" marL="0">
              <a:buNone/>
            </a:pPr>
            <a:r>
              <a:rPr lang="en-US" sz="1250" dirty="0">
                <a:solidFill>
                  <a:srgbClr val="6B6B6B"/>
                </a:solidFill>
                <a:latin typeface="Segoe UI" pitchFamily="34" charset="0"/>
                <a:ea typeface="Segoe UI" pitchFamily="34" charset="-122"/>
                <a:cs typeface="Segoe UI" pitchFamily="34" charset="-120"/>
              </a:rPr>
              <a:t>Streaks looked simple, but the weekly freeze created bugs where the same freeze could be spent twice or fire on a day already completed. I fixed it structurally, with a uniqueness constraint on user, subject and date, a field recording exactly which day a freeze protected, and an explicit reset when a gap exceeds the freeze budget.</a:t>
            </a:r>
            <a:endParaRPr lang="en-US" sz="1250" dirty="0"/>
          </a:p>
        </p:txBody>
      </p:sp>
      <p:sp>
        <p:nvSpPr>
          <p:cNvPr id="11" name="Text 9"/>
          <p:cNvSpPr/>
          <p:nvPr/>
        </p:nvSpPr>
        <p:spPr>
          <a:xfrm>
            <a:off x="548640" y="4572000"/>
            <a:ext cx="548640" cy="548640"/>
          </a:xfrm>
          <a:prstGeom prst="rect">
            <a:avLst/>
          </a:prstGeom>
          <a:noFill/>
          <a:ln/>
        </p:spPr>
        <p:txBody>
          <a:bodyPr wrap="square" rtlCol="0" anchor="ctr"/>
          <a:lstStyle/>
          <a:p>
            <a:pPr indent="0" marL="0">
              <a:buNone/>
            </a:pPr>
            <a:r>
              <a:rPr lang="en-US" sz="2600" b="1" dirty="0">
                <a:solidFill>
                  <a:srgbClr val="B5673A"/>
                </a:solidFill>
                <a:latin typeface="Segoe UI Semibold" pitchFamily="34" charset="0"/>
                <a:ea typeface="Segoe UI Semibold" pitchFamily="34" charset="-122"/>
                <a:cs typeface="Segoe UI Semibold" pitchFamily="34" charset="-120"/>
              </a:rPr>
              <a:t>3</a:t>
            </a:r>
            <a:endParaRPr lang="en-US" sz="2600" dirty="0"/>
          </a:p>
        </p:txBody>
      </p:sp>
      <p:sp>
        <p:nvSpPr>
          <p:cNvPr id="12" name="Text 10"/>
          <p:cNvSpPr/>
          <p:nvPr/>
        </p:nvSpPr>
        <p:spPr>
          <a:xfrm>
            <a:off x="1143000" y="4572000"/>
            <a:ext cx="10424160" cy="365760"/>
          </a:xfrm>
          <a:prstGeom prst="rect">
            <a:avLst/>
          </a:prstGeom>
          <a:noFill/>
          <a:ln/>
        </p:spPr>
        <p:txBody>
          <a:bodyPr wrap="square" rtlCol="0" anchor="ctr"/>
          <a:lstStyle/>
          <a:p>
            <a:pPr indent="0" marL="0">
              <a:buNone/>
            </a:pPr>
            <a:r>
              <a:rPr lang="en-US" sz="1500" b="1" dirty="0">
                <a:solidFill>
                  <a:srgbClr val="262626"/>
                </a:solidFill>
                <a:latin typeface="Segoe UI" pitchFamily="34" charset="0"/>
                <a:ea typeface="Segoe UI" pitchFamily="34" charset="-122"/>
                <a:cs typeface="Segoe UI" pitchFamily="34" charset="-120"/>
              </a:rPr>
              <a:t>Performance at scale</a:t>
            </a:r>
            <a:endParaRPr lang="en-US" sz="1500" dirty="0"/>
          </a:p>
        </p:txBody>
      </p:sp>
      <p:sp>
        <p:nvSpPr>
          <p:cNvPr id="13" name="Text 11"/>
          <p:cNvSpPr/>
          <p:nvPr/>
        </p:nvSpPr>
        <p:spPr>
          <a:xfrm>
            <a:off x="1143000" y="4956048"/>
            <a:ext cx="10424160" cy="914400"/>
          </a:xfrm>
          <a:prstGeom prst="rect">
            <a:avLst/>
          </a:prstGeom>
          <a:noFill/>
          <a:ln/>
        </p:spPr>
        <p:txBody>
          <a:bodyPr wrap="square" rtlCol="0" anchor="t"/>
          <a:lstStyle/>
          <a:p>
            <a:pPr indent="0" marL="0">
              <a:buNone/>
            </a:pPr>
            <a:r>
              <a:rPr lang="en-US" sz="1250" dirty="0">
                <a:solidFill>
                  <a:srgbClr val="6B6B6B"/>
                </a:solidFill>
                <a:latin typeface="Segoe UI" pitchFamily="34" charset="0"/>
                <a:ea typeface="Segoe UI" pitchFamily="34" charset="-122"/>
                <a:cs typeface="Segoe UI" pitchFamily="34" charset="-120"/>
              </a:rPr>
              <a:t>In-memory caching of the question bank and diagram images, batched Sheet fetches, and filename-based image URLs kept the app fast and within API quotas as the bank grew.</a:t>
            </a:r>
            <a:endParaRPr lang="en-US" sz="1250" dirty="0"/>
          </a:p>
        </p:txBody>
      </p:sp>
      <p:sp>
        <p:nvSpPr>
          <p:cNvPr id="14" name="Text 12"/>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IMPLEMENT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OPERATE</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DEPLOYMENT, TESTING, OUTCOME &amp; IMPACT</a:t>
            </a:r>
            <a:endParaRPr lang="en-US" sz="1100" dirty="0"/>
          </a:p>
        </p:txBody>
      </p:sp>
      <p:sp>
        <p:nvSpPr>
          <p:cNvPr id="5" name="Text 3"/>
          <p:cNvSpPr/>
          <p:nvPr/>
        </p:nvSpPr>
        <p:spPr>
          <a:xfrm>
            <a:off x="548640" y="1371600"/>
            <a:ext cx="6858000" cy="4754880"/>
          </a:xfrm>
          <a:prstGeom prst="rect">
            <a:avLst/>
          </a:prstGeom>
          <a:noFill/>
          <a:ln/>
        </p:spPr>
        <p:txBody>
          <a:bodyPr wrap="square" rtlCol="0" anchor="t"/>
          <a:lstStyle/>
          <a:p>
            <a:pPr indent="0" marL="0">
              <a:lnSpc>
                <a:spcPct val="104000"/>
              </a:lnSpc>
              <a:buNone/>
            </a:pPr>
            <a:r>
              <a:rPr lang="en-US" sz="1400" b="1" dirty="0">
                <a:solidFill>
                  <a:srgbClr val="262626"/>
                </a:solidFill>
                <a:latin typeface="Segoe UI" pitchFamily="34" charset="0"/>
                <a:ea typeface="Segoe UI" pitchFamily="34" charset="-122"/>
                <a:cs typeface="Segoe UI" pitchFamily="34" charset="-120"/>
              </a:rPr>
              <a:t>Deployed to production: </a:t>
            </a:r>
            <a:pPr indent="0" marL="0">
              <a:lnSpc>
                <a:spcPct val="104000"/>
              </a:lnSpc>
              <a:spcAft>
                <a:spcPts val="1000"/>
              </a:spcAft>
              <a:buNone/>
            </a:pPr>
            <a:r>
              <a:rPr lang="en-US" sz="1400" dirty="0">
                <a:solidFill>
                  <a:srgbClr val="262626"/>
                </a:solidFill>
                <a:latin typeface="Segoe UI" pitchFamily="34" charset="0"/>
                <a:ea typeface="Segoe UI" pitchFamily="34" charset="-122"/>
                <a:cs typeface="Segoe UI" pitchFamily="34" charset="-120"/>
              </a:rPr>
              <a:t>Cloudflare Pages (front end) · Render, Singapore (back end) · Railway (MySQL). Secrets kept out of the repo, with reproducible config.</a:t>
            </a:r>
            <a:endParaRPr lang="en-US" sz="1400" dirty="0"/>
          </a:p>
        </p:txBody>
      </p:sp>
      <p:sp>
        <p:nvSpPr>
          <p:cNvPr id="6" name="Text 4"/>
          <p:cNvSpPr/>
          <p:nvPr/>
        </p:nvSpPr>
        <p:spPr>
          <a:xfrm>
            <a:off x="548640" y="2240280"/>
            <a:ext cx="6858000" cy="4754880"/>
          </a:xfrm>
          <a:prstGeom prst="rect">
            <a:avLst/>
          </a:prstGeom>
          <a:noFill/>
          <a:ln/>
        </p:spPr>
        <p:txBody>
          <a:bodyPr wrap="square" rtlCol="0" anchor="t"/>
          <a:lstStyle/>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~130 exam papers processed into a structured bank across 5 levels.</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Ooka deployed and in testing with ~22 students.</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The company now has a working product to test with students, where before it had only an idea.</a:t>
            </a:r>
            <a:endParaRPr lang="en-US" sz="1400" dirty="0"/>
          </a:p>
          <a:p>
            <a:pPr marL="177800" indent="-177800">
              <a:lnSpc>
                <a:spcPct val="104000"/>
              </a:lnSpc>
              <a:spcAft>
                <a:spcPts val="700"/>
              </a:spcAft>
              <a:buSzPct val="100000"/>
              <a:buChar char="•"/>
            </a:pPr>
            <a:r>
              <a:rPr lang="en-US" sz="1400" dirty="0">
                <a:solidFill>
                  <a:srgbClr val="262626"/>
                </a:solidFill>
                <a:latin typeface="Segoe UI" pitchFamily="34" charset="0"/>
                <a:ea typeface="Segoe UI" pitchFamily="34" charset="-122"/>
                <a:cs typeface="Segoe UI" pitchFamily="34" charset="-120"/>
              </a:rPr>
              <a:t>Produced the exact asset it plans to sell into MOE schools, plus the teacher analytics that make it credible.</a:t>
            </a:r>
            <a:endParaRPr lang="en-US" sz="1400" dirty="0"/>
          </a:p>
        </p:txBody>
      </p:sp>
      <p:sp>
        <p:nvSpPr>
          <p:cNvPr id="7" name="Shape 5"/>
          <p:cNvSpPr/>
          <p:nvPr/>
        </p:nvSpPr>
        <p:spPr>
          <a:xfrm>
            <a:off x="8778240" y="1417320"/>
            <a:ext cx="2834640" cy="1097280"/>
          </a:xfrm>
          <a:prstGeom prst="roundRect">
            <a:avLst>
              <a:gd name="adj" fmla="val 6667"/>
            </a:avLst>
          </a:prstGeom>
          <a:solidFill>
            <a:srgbClr val="FFFFFF"/>
          </a:solidFill>
          <a:ln w="15875">
            <a:solidFill>
              <a:srgbClr val="B5673A"/>
            </a:solidFill>
            <a:prstDash val="solid"/>
          </a:ln>
        </p:spPr>
      </p:sp>
      <p:sp>
        <p:nvSpPr>
          <p:cNvPr id="8" name="Text 6"/>
          <p:cNvSpPr/>
          <p:nvPr/>
        </p:nvSpPr>
        <p:spPr>
          <a:xfrm>
            <a:off x="8778240" y="1527048"/>
            <a:ext cx="2834640" cy="548640"/>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~130</a:t>
            </a:r>
            <a:endParaRPr lang="en-US" sz="2600" dirty="0"/>
          </a:p>
        </p:txBody>
      </p:sp>
      <p:sp>
        <p:nvSpPr>
          <p:cNvPr id="9" name="Text 7"/>
          <p:cNvSpPr/>
          <p:nvPr/>
        </p:nvSpPr>
        <p:spPr>
          <a:xfrm>
            <a:off x="8778240" y="2075688"/>
            <a:ext cx="283464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papers</a:t>
            </a:r>
            <a:endParaRPr lang="en-US" sz="1200" dirty="0"/>
          </a:p>
        </p:txBody>
      </p:sp>
      <p:sp>
        <p:nvSpPr>
          <p:cNvPr id="10" name="Shape 8"/>
          <p:cNvSpPr/>
          <p:nvPr/>
        </p:nvSpPr>
        <p:spPr>
          <a:xfrm>
            <a:off x="8778240" y="2788920"/>
            <a:ext cx="2834640" cy="1097280"/>
          </a:xfrm>
          <a:prstGeom prst="roundRect">
            <a:avLst>
              <a:gd name="adj" fmla="val 6667"/>
            </a:avLst>
          </a:prstGeom>
          <a:solidFill>
            <a:srgbClr val="FFFFFF"/>
          </a:solidFill>
          <a:ln w="15875">
            <a:solidFill>
              <a:srgbClr val="B5673A"/>
            </a:solidFill>
            <a:prstDash val="solid"/>
          </a:ln>
        </p:spPr>
      </p:sp>
      <p:sp>
        <p:nvSpPr>
          <p:cNvPr id="11" name="Text 9"/>
          <p:cNvSpPr/>
          <p:nvPr/>
        </p:nvSpPr>
        <p:spPr>
          <a:xfrm>
            <a:off x="8778240" y="2898648"/>
            <a:ext cx="2834640" cy="548640"/>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5</a:t>
            </a:r>
            <a:endParaRPr lang="en-US" sz="2600" dirty="0"/>
          </a:p>
        </p:txBody>
      </p:sp>
      <p:sp>
        <p:nvSpPr>
          <p:cNvPr id="12" name="Text 10"/>
          <p:cNvSpPr/>
          <p:nvPr/>
        </p:nvSpPr>
        <p:spPr>
          <a:xfrm>
            <a:off x="8778240" y="3447288"/>
            <a:ext cx="283464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levels</a:t>
            </a:r>
            <a:endParaRPr lang="en-US" sz="1200" dirty="0"/>
          </a:p>
        </p:txBody>
      </p:sp>
      <p:sp>
        <p:nvSpPr>
          <p:cNvPr id="13" name="Shape 11"/>
          <p:cNvSpPr/>
          <p:nvPr/>
        </p:nvSpPr>
        <p:spPr>
          <a:xfrm>
            <a:off x="8778240" y="4160520"/>
            <a:ext cx="2834640" cy="1097280"/>
          </a:xfrm>
          <a:prstGeom prst="roundRect">
            <a:avLst>
              <a:gd name="adj" fmla="val 6667"/>
            </a:avLst>
          </a:prstGeom>
          <a:solidFill>
            <a:srgbClr val="FFFFFF"/>
          </a:solidFill>
          <a:ln w="15875">
            <a:solidFill>
              <a:srgbClr val="B5673A"/>
            </a:solidFill>
            <a:prstDash val="solid"/>
          </a:ln>
        </p:spPr>
      </p:sp>
      <p:sp>
        <p:nvSpPr>
          <p:cNvPr id="14" name="Text 12"/>
          <p:cNvSpPr/>
          <p:nvPr/>
        </p:nvSpPr>
        <p:spPr>
          <a:xfrm>
            <a:off x="8778240" y="4270248"/>
            <a:ext cx="2834640" cy="548640"/>
          </a:xfrm>
          <a:prstGeom prst="rect">
            <a:avLst/>
          </a:prstGeom>
          <a:noFill/>
          <a:ln/>
        </p:spPr>
        <p:txBody>
          <a:bodyPr wrap="square" rtlCol="0" anchor="ctr"/>
          <a:lstStyle/>
          <a:p>
            <a:pPr algn="ctr" indent="0" marL="0">
              <a:buNone/>
            </a:pPr>
            <a:r>
              <a:rPr lang="en-US" sz="2600" b="1" dirty="0">
                <a:solidFill>
                  <a:srgbClr val="B5673A"/>
                </a:solidFill>
                <a:latin typeface="Segoe UI Semibold" pitchFamily="34" charset="0"/>
                <a:ea typeface="Segoe UI Semibold" pitchFamily="34" charset="-122"/>
                <a:cs typeface="Segoe UI Semibold" pitchFamily="34" charset="-120"/>
              </a:rPr>
              <a:t>~22</a:t>
            </a:r>
            <a:endParaRPr lang="en-US" sz="2600" dirty="0"/>
          </a:p>
        </p:txBody>
      </p:sp>
      <p:sp>
        <p:nvSpPr>
          <p:cNvPr id="15" name="Text 13"/>
          <p:cNvSpPr/>
          <p:nvPr/>
        </p:nvSpPr>
        <p:spPr>
          <a:xfrm>
            <a:off x="8778240" y="4818888"/>
            <a:ext cx="2834640" cy="320040"/>
          </a:xfrm>
          <a:prstGeom prst="rect">
            <a:avLst/>
          </a:prstGeom>
          <a:noFill/>
          <a:ln/>
        </p:spPr>
        <p:txBody>
          <a:bodyPr wrap="square" rtlCol="0" anchor="ctr"/>
          <a:lstStyle/>
          <a:p>
            <a:pPr algn="ctr" indent="0" marL="0">
              <a:buNone/>
            </a:pPr>
            <a:r>
              <a:rPr lang="en-US" sz="1200" dirty="0">
                <a:solidFill>
                  <a:srgbClr val="262626"/>
                </a:solidFill>
                <a:latin typeface="Segoe UI" pitchFamily="34" charset="0"/>
                <a:ea typeface="Segoe UI" pitchFamily="34" charset="-122"/>
                <a:cs typeface="Segoe UI" pitchFamily="34" charset="-120"/>
              </a:rPr>
              <a:t>test students</a:t>
            </a:r>
            <a:endParaRPr lang="en-US" sz="1200" dirty="0"/>
          </a:p>
        </p:txBody>
      </p:sp>
      <p:sp>
        <p:nvSpPr>
          <p:cNvPr id="16" name="Text 1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OPERATE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914400"/>
            <a:ext cx="11247120" cy="822960"/>
          </a:xfrm>
          <a:prstGeom prst="rect">
            <a:avLst/>
          </a:prstGeom>
          <a:noFill/>
          <a:ln/>
        </p:spPr>
        <p:txBody>
          <a:bodyPr wrap="square" rtlCol="0" anchor="ctr"/>
          <a:lstStyle/>
          <a:p>
            <a:pPr algn="ctr" indent="0" marL="0">
              <a:buNone/>
            </a:pPr>
            <a:r>
              <a:rPr lang="en-US" sz="3800" b="1" dirty="0">
                <a:solidFill>
                  <a:srgbClr val="B5673A"/>
                </a:solidFill>
                <a:latin typeface="Segoe UI Semibold" pitchFamily="34" charset="0"/>
                <a:ea typeface="Segoe UI Semibold" pitchFamily="34" charset="-122"/>
                <a:cs typeface="Segoe UI Semibold" pitchFamily="34" charset="-120"/>
              </a:rPr>
              <a:t>DEMO VIDEO</a:t>
            </a:r>
            <a:endParaRPr lang="en-US" sz="3800" dirty="0"/>
          </a:p>
        </p:txBody>
      </p:sp>
      <p:sp>
        <p:nvSpPr>
          <p:cNvPr id="3" name="Shape 1"/>
          <p:cNvSpPr/>
          <p:nvPr/>
        </p:nvSpPr>
        <p:spPr>
          <a:xfrm>
            <a:off x="3566160" y="2103120"/>
            <a:ext cx="5029200" cy="2834640"/>
          </a:xfrm>
          <a:prstGeom prst="roundRect">
            <a:avLst>
              <a:gd name="adj" fmla="val 2581"/>
            </a:avLst>
          </a:prstGeom>
          <a:solidFill>
            <a:srgbClr val="262626"/>
          </a:solidFill>
          <a:ln/>
        </p:spPr>
      </p:sp>
      <p:sp>
        <p:nvSpPr>
          <p:cNvPr id="4" name="Shape 2"/>
          <p:cNvSpPr/>
          <p:nvPr/>
        </p:nvSpPr>
        <p:spPr>
          <a:xfrm rot="5400000">
            <a:off x="5806440" y="3154680"/>
            <a:ext cx="822960" cy="731520"/>
          </a:xfrm>
          <a:prstGeom prst="triangle">
            <a:avLst/>
          </a:prstGeom>
          <a:solidFill>
            <a:srgbClr val="FFFFFF"/>
          </a:solidFill>
          <a:ln/>
        </p:spPr>
      </p:sp>
      <p:sp>
        <p:nvSpPr>
          <p:cNvPr id="5" name="Text 3"/>
          <p:cNvSpPr/>
          <p:nvPr/>
        </p:nvSpPr>
        <p:spPr>
          <a:xfrm>
            <a:off x="3566160" y="4983480"/>
            <a:ext cx="5029200" cy="365760"/>
          </a:xfrm>
          <a:prstGeom prst="rect">
            <a:avLst/>
          </a:prstGeom>
          <a:noFill/>
          <a:ln/>
        </p:spPr>
        <p:txBody>
          <a:bodyPr wrap="square" rtlCol="0" anchor="ctr"/>
          <a:lstStyle/>
          <a:p>
            <a:pPr algn="ctr" indent="0" marL="0">
              <a:buNone/>
            </a:pPr>
            <a:r>
              <a:rPr lang="en-US" sz="1300" i="1" dirty="0">
                <a:solidFill>
                  <a:srgbClr val="6B6B6B"/>
                </a:solidFill>
                <a:latin typeface="Segoe UI" pitchFamily="34" charset="0"/>
                <a:ea typeface="Segoe UI" pitchFamily="34" charset="-122"/>
                <a:cs typeface="Segoe UI" pitchFamily="34" charset="-120"/>
              </a:rPr>
              <a:t>[ Insert 60–90s screen recording ]</a:t>
            </a:r>
            <a:endParaRPr lang="en-US" sz="1300" dirty="0"/>
          </a:p>
        </p:txBody>
      </p:sp>
      <p:sp>
        <p:nvSpPr>
          <p:cNvPr id="6" name="Text 4"/>
          <p:cNvSpPr/>
          <p:nvPr/>
        </p:nvSpPr>
        <p:spPr>
          <a:xfrm>
            <a:off x="2194560" y="5486400"/>
            <a:ext cx="7772400" cy="457200"/>
          </a:xfrm>
          <a:prstGeom prst="rect">
            <a:avLst/>
          </a:prstGeom>
          <a:noFill/>
          <a:ln/>
        </p:spPr>
        <p:txBody>
          <a:bodyPr wrap="square" rtlCol="0" anchor="ctr"/>
          <a:lstStyle/>
          <a:p>
            <a:pPr algn="ctr" indent="0" marL="0">
              <a:buNone/>
            </a:pPr>
            <a:r>
              <a:rPr lang="en-US" sz="1300" dirty="0">
                <a:solidFill>
                  <a:srgbClr val="262626"/>
                </a:solidFill>
                <a:latin typeface="Segoe UI" pitchFamily="34" charset="0"/>
                <a:ea typeface="Segoe UI" pitchFamily="34" charset="-122"/>
                <a:cs typeface="Segoe UI" pitchFamily="34" charset="-120"/>
              </a:rPr>
              <a:t>Build a quiz  →  answer a question  →  instant explanation  →  streak / XP update  →  teacher dashboard.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SKILLS &amp; COMPETENCIES</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LEARNT OR PRACTISED ON THE JOB</a:t>
            </a:r>
            <a:endParaRPr lang="en-US" sz="1100" dirty="0"/>
          </a:p>
        </p:txBody>
      </p:sp>
      <p:sp>
        <p:nvSpPr>
          <p:cNvPr id="5" name="Text 3"/>
          <p:cNvSpPr/>
          <p:nvPr/>
        </p:nvSpPr>
        <p:spPr>
          <a:xfrm>
            <a:off x="548640" y="1371600"/>
            <a:ext cx="6766560" cy="4754880"/>
          </a:xfrm>
          <a:prstGeom prst="rect">
            <a:avLst/>
          </a:prstGeom>
          <a:noFill/>
          <a:ln/>
        </p:spPr>
        <p:txBody>
          <a:bodyPr wrap="square" rtlCol="0" anchor="t"/>
          <a:lstStyle/>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Full-stack: React front end, FastAPI + MySQL back end.</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Authentication, JWT, cloud deployment across three platforms.</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Google Sheets &amp; Drive APIs, OCR, and using an AI assistant (Claude) as a human-in-the-loop.</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Database design and API structuring.</a:t>
            </a:r>
            <a:endParaRPr lang="en-US" sz="1500" dirty="0"/>
          </a:p>
        </p:txBody>
      </p:sp>
      <p:sp>
        <p:nvSpPr>
          <p:cNvPr id="6" name="Text 4"/>
          <p:cNvSpPr/>
          <p:nvPr/>
        </p:nvSpPr>
        <p:spPr>
          <a:xfrm>
            <a:off x="548640" y="370332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SOFT SKILLS</a:t>
            </a:r>
            <a:endParaRPr lang="en-US" sz="1100" dirty="0"/>
          </a:p>
        </p:txBody>
      </p:sp>
      <p:sp>
        <p:nvSpPr>
          <p:cNvPr id="7" name="Text 5"/>
          <p:cNvSpPr/>
          <p:nvPr/>
        </p:nvSpPr>
        <p:spPr>
          <a:xfrm>
            <a:off x="548640" y="4069080"/>
            <a:ext cx="6766560" cy="4754880"/>
          </a:xfrm>
          <a:prstGeom prst="rect">
            <a:avLst/>
          </a:prstGeom>
          <a:noFill/>
          <a:ln/>
        </p:spPr>
        <p:txBody>
          <a:bodyPr wrap="square" rtlCol="0" anchor="t"/>
          <a:lstStyle/>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Communicating progress through weekly updates.</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Framing a problem so a busy supervisor can answer fast.</a:t>
            </a:r>
            <a:endParaRPr lang="en-US" sz="1500" dirty="0"/>
          </a:p>
          <a:p>
            <a:pPr marL="177800" indent="-177800">
              <a:lnSpc>
                <a:spcPct val="104000"/>
              </a:lnSpc>
              <a:spcAft>
                <a:spcPts val="700"/>
              </a:spcAft>
              <a:buSzPct val="100000"/>
              <a:buChar char="•"/>
            </a:pPr>
            <a:r>
              <a:rPr lang="en-US" sz="1500" dirty="0">
                <a:solidFill>
                  <a:srgbClr val="262626"/>
                </a:solidFill>
                <a:latin typeface="Segoe UI" pitchFamily="34" charset="0"/>
                <a:ea typeface="Segoe UI" pitchFamily="34" charset="-122"/>
                <a:cs typeface="Segoe UI" pitchFamily="34" charset="-120"/>
              </a:rPr>
              <a:t>Prioritising a roadmap with limited time.</a:t>
            </a:r>
            <a:endParaRPr lang="en-US" sz="1500" dirty="0"/>
          </a:p>
        </p:txBody>
      </p:sp>
      <p:sp>
        <p:nvSpPr>
          <p:cNvPr id="8" name="Text 6"/>
          <p:cNvSpPr/>
          <p:nvPr/>
        </p:nvSpPr>
        <p:spPr>
          <a:xfrm>
            <a:off x="548640" y="5806440"/>
            <a:ext cx="10972800" cy="4754880"/>
          </a:xfrm>
          <a:prstGeom prst="rect">
            <a:avLst/>
          </a:prstGeom>
          <a:noFill/>
          <a:ln/>
        </p:spPr>
        <p:txBody>
          <a:bodyPr wrap="square" rtlCol="0" anchor="t"/>
          <a:lstStyle/>
          <a:p>
            <a:pPr indent="0" marL="0">
              <a:lnSpc>
                <a:spcPct val="104000"/>
              </a:lnSpc>
              <a:buNone/>
            </a:pPr>
            <a:r>
              <a:rPr lang="en-US" sz="1300" i="1" dirty="0">
                <a:solidFill>
                  <a:srgbClr val="6B6B6B"/>
                </a:solidFill>
                <a:latin typeface="Segoe UI" pitchFamily="34" charset="0"/>
                <a:ea typeface="Segoe UI" pitchFamily="34" charset="-122"/>
                <a:cs typeface="Segoe UI" pitchFamily="34" charset="-120"/>
              </a:rPr>
              <a:t>My Computer Engineering diploma gave the foundations, and I learnt most of the specific tools (OCR, FastAPI, the Google APIs, deployment) on the job.</a:t>
            </a:r>
            <a:endParaRPr lang="en-US" sz="1300" dirty="0"/>
          </a:p>
        </p:txBody>
      </p:sp>
      <p:pic>
        <p:nvPicPr>
          <p:cNvPr id="9" name="Image 0" descr="/sessions/kind-inspiring-mendel/mnt/quizMaker/ooka_06_statistics.png">    </p:cNvPr>
          <p:cNvPicPr>
            <a:picLocks noChangeAspect="1"/>
          </p:cNvPicPr>
          <p:nvPr/>
        </p:nvPicPr>
        <p:blipFill>
          <a:blip r:embed="rId1"/>
          <a:stretch>
            <a:fillRect/>
          </a:stretch>
        </p:blipFill>
        <p:spPr>
          <a:xfrm>
            <a:off x="9509760" y="1371600"/>
            <a:ext cx="2103120" cy="4021586"/>
          </a:xfrm>
          <a:prstGeom prst="rect">
            <a:avLst/>
          </a:prstGeom>
        </p:spPr>
      </p:pic>
      <p:sp>
        <p:nvSpPr>
          <p:cNvPr id="10" name="Text 7"/>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SKILLS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REFLECTION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868680"/>
            <a:ext cx="10058400" cy="320040"/>
          </a:xfrm>
          <a:prstGeom prst="rect">
            <a:avLst/>
          </a:prstGeom>
          <a:noFill/>
          <a:ln/>
        </p:spPr>
        <p:txBody>
          <a:bodyPr wrap="square" rtlCol="0" anchor="ctr"/>
          <a:lstStyle/>
          <a:p>
            <a:pPr indent="0" marL="0">
              <a:buNone/>
            </a:pPr>
            <a:r>
              <a:rPr lang="en-US" sz="1100" b="1" spc="200" kern="0" dirty="0">
                <a:solidFill>
                  <a:srgbClr val="B5673A"/>
                </a:solidFill>
                <a:latin typeface="Segoe UI" pitchFamily="34" charset="0"/>
                <a:ea typeface="Segoe UI" pitchFamily="34" charset="-122"/>
                <a:cs typeface="Segoe UI" pitchFamily="34" charset="-120"/>
              </a:rPr>
              <a:t>SELF-DIRECTED LEARNING &amp; TEAMWORK</a:t>
            </a:r>
            <a:endParaRPr lang="en-US" sz="1100" dirty="0"/>
          </a:p>
        </p:txBody>
      </p:sp>
      <p:sp>
        <p:nvSpPr>
          <p:cNvPr id="5" name="Text 3"/>
          <p:cNvSpPr/>
          <p:nvPr/>
        </p:nvSpPr>
        <p:spPr>
          <a:xfrm>
            <a:off x="548640" y="1371600"/>
            <a:ext cx="11064240" cy="4754880"/>
          </a:xfrm>
          <a:prstGeom prst="rect">
            <a:avLst/>
          </a:prstGeom>
          <a:noFill/>
          <a:ln/>
        </p:spPr>
        <p:txBody>
          <a:bodyPr wrap="square" rtlCol="0" anchor="t"/>
          <a:lstStyle/>
          <a:p>
            <a:pPr indent="0" marL="0">
              <a:lnSpc>
                <a:spcPct val="104000"/>
              </a:lnSpc>
              <a:spcAft>
                <a:spcPts val="1200"/>
              </a:spcAft>
              <a:buNone/>
            </a:pPr>
            <a:r>
              <a:rPr lang="en-US" sz="1500" dirty="0">
                <a:solidFill>
                  <a:srgbClr val="262626"/>
                </a:solidFill>
                <a:latin typeface="Segoe UI" pitchFamily="34" charset="0"/>
                <a:ea typeface="Segoe UI" pitchFamily="34" charset="-122"/>
                <a:cs typeface="Segoe UI" pitchFamily="34" charset="-120"/>
              </a:rPr>
              <a:t>Self-directed learning was how the work got done, not an extra on top of it. Curious Lab had no training programme, so instead I was given time to research and people to ask. I learnt OCR, FastAPI, the Google APIs and cloud deployment on the job by building on my diploma foundations. The experiments I abandoned, such as local language models and AI diagram recreation, were information rather than failures, and each ruled out an approach and pointed to the one that worked.</a:t>
            </a:r>
            <a:endParaRPr lang="en-US" sz="1500" dirty="0"/>
          </a:p>
          <a:p>
            <a:pPr indent="0" marL="0">
              <a:lnSpc>
                <a:spcPct val="104000"/>
              </a:lnSpc>
              <a:buNone/>
            </a:pPr>
            <a:r>
              <a:rPr lang="en-US" sz="1500" dirty="0">
                <a:solidFill>
                  <a:srgbClr val="262626"/>
                </a:solidFill>
                <a:latin typeface="Segoe UI" pitchFamily="34" charset="0"/>
                <a:ea typeface="Segoe UI" pitchFamily="34" charset="-122"/>
                <a:cs typeface="Segoe UI" pitchFamily="34" charset="-120"/>
              </a:rPr>
              <a:t>Although I worked alone on the code, the project was collaborative throughout. My supervisor and the founder set the problems and gave frequent, substantial feedback, and the rebrand and the ranks-to-XP change both came out of that loop. Knowing when to persist and when to abandon an approach is the most transferable thing I learnt.</a:t>
            </a:r>
            <a:endParaRPr lang="en-US" sz="1500" dirty="0"/>
          </a:p>
        </p:txBody>
      </p:sp>
      <p:sp>
        <p:nvSpPr>
          <p:cNvPr id="6" name="Text 4"/>
          <p:cNvSpPr/>
          <p:nvPr/>
        </p:nvSpPr>
        <p:spPr>
          <a:xfrm>
            <a:off x="548640" y="6382512"/>
            <a:ext cx="5486400" cy="320040"/>
          </a:xfrm>
          <a:prstGeom prst="rect">
            <a:avLst/>
          </a:prstGeom>
          <a:noFill/>
          <a:ln/>
        </p:spPr>
        <p:txBody>
          <a:bodyPr wrap="square" rtlCol="0" anchor="ctr"/>
          <a:lstStyle/>
          <a:p>
            <a:pPr indent="0" marL="0">
              <a:buNone/>
            </a:pPr>
            <a:r>
              <a:rPr lang="en-US" sz="1200" b="1" spc="300" kern="0" dirty="0">
                <a:solidFill>
                  <a:srgbClr val="B5673A"/>
                </a:solidFill>
                <a:latin typeface="Segoe UI" pitchFamily="34" charset="0"/>
                <a:ea typeface="Segoe UI" pitchFamily="34" charset="-122"/>
                <a:cs typeface="Segoe UI" pitchFamily="34" charset="-120"/>
              </a:rPr>
              <a:t>CDIO · REFLECTION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CONCLUSION</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1463040"/>
            <a:ext cx="7589520" cy="4754880"/>
          </a:xfrm>
          <a:prstGeom prst="rect">
            <a:avLst/>
          </a:prstGeom>
          <a:noFill/>
          <a:ln/>
        </p:spPr>
        <p:txBody>
          <a:bodyPr wrap="square" rtlCol="0" anchor="t"/>
          <a:lstStyle/>
          <a:p>
            <a:pPr indent="0" marL="0">
              <a:lnSpc>
                <a:spcPct val="104000"/>
              </a:lnSpc>
              <a:spcAft>
                <a:spcPts val="1400"/>
              </a:spcAft>
              <a:buNone/>
            </a:pPr>
            <a:r>
              <a:rPr lang="en-US" sz="1700" dirty="0">
                <a:solidFill>
                  <a:srgbClr val="262626"/>
                </a:solidFill>
                <a:latin typeface="Segoe UI" pitchFamily="34" charset="0"/>
                <a:ea typeface="Segoe UI" pitchFamily="34" charset="-122"/>
                <a:cs typeface="Segoe UI" pitchFamily="34" charset="-120"/>
              </a:rPr>
              <a:t>Over 22 weeks I designed, built, deployed and maintained an entire production system from a problem statement rather than a specification. That system is an extraction pipeline of ~130 papers across 5 levels, plus Ooka, now in testing with ~22 students and giving them feedback the moment they answer.</a:t>
            </a:r>
            <a:endParaRPr lang="en-US" sz="1700" dirty="0"/>
          </a:p>
          <a:p>
            <a:pPr indent="0" marL="0">
              <a:lnSpc>
                <a:spcPct val="104000"/>
              </a:lnSpc>
              <a:spcAft>
                <a:spcPts val="1400"/>
              </a:spcAft>
              <a:buNone/>
            </a:pPr>
            <a:r>
              <a:rPr lang="en-US" sz="1700" dirty="0">
                <a:solidFill>
                  <a:srgbClr val="262626"/>
                </a:solidFill>
                <a:latin typeface="Segoe UI" pitchFamily="34" charset="0"/>
                <a:ea typeface="Segoe UI" pitchFamily="34" charset="-122"/>
                <a:cs typeface="Segoe UI" pitchFamily="34" charset="-120"/>
              </a:rPr>
              <a:t>I learnt as much from the approaches I abandoned as from the ones that worked, and that a design can be technically correct yet wrong for the people using it.</a:t>
            </a:r>
            <a:endParaRPr lang="en-US" sz="1700" dirty="0"/>
          </a:p>
          <a:p>
            <a:pPr indent="0" marL="0">
              <a:lnSpc>
                <a:spcPct val="104000"/>
              </a:lnSpc>
              <a:buNone/>
            </a:pPr>
            <a:r>
              <a:rPr lang="en-US" sz="1700" b="1" dirty="0">
                <a:solidFill>
                  <a:srgbClr val="262626"/>
                </a:solidFill>
                <a:latin typeface="Segoe UI" pitchFamily="34" charset="0"/>
                <a:ea typeface="Segoe UI" pitchFamily="34" charset="-122"/>
                <a:cs typeface="Segoe UI" pitchFamily="34" charset="-120"/>
              </a:rPr>
              <a:t>Above all, building something real students use has made me genuinely interested in this industry and in software engineering as a field.</a:t>
            </a:r>
            <a:endParaRPr lang="en-US" sz="1700" dirty="0"/>
          </a:p>
        </p:txBody>
      </p:sp>
      <p:pic>
        <p:nvPicPr>
          <p:cNvPr id="5" name="Image 0" descr="/sessions/kind-inspiring-mendel/mnt/quizMaker/ooka_01_home.png">    </p:cNvPr>
          <p:cNvPicPr>
            <a:picLocks noChangeAspect="1"/>
          </p:cNvPicPr>
          <p:nvPr/>
        </p:nvPicPr>
        <p:blipFill>
          <a:blip r:embed="rId1"/>
          <a:stretch>
            <a:fillRect/>
          </a:stretch>
        </p:blipFill>
        <p:spPr>
          <a:xfrm>
            <a:off x="9601200" y="1463040"/>
            <a:ext cx="2103120" cy="416522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365760"/>
            <a:ext cx="10058400" cy="365760"/>
          </a:xfrm>
          <a:prstGeom prst="rect">
            <a:avLst/>
          </a:prstGeom>
          <a:noFill/>
          <a:ln/>
        </p:spPr>
        <p:txBody>
          <a:bodyPr wrap="square" rtlCol="0" anchor="ctr"/>
          <a:lstStyle/>
          <a:p>
            <a:pPr indent="0" marL="0">
              <a:buNone/>
            </a:pPr>
            <a:r>
              <a:rPr lang="en-US" sz="1300" b="1" spc="300" kern="0" dirty="0">
                <a:solidFill>
                  <a:srgbClr val="B5673A"/>
                </a:solidFill>
                <a:latin typeface="Segoe UI" pitchFamily="34" charset="0"/>
                <a:ea typeface="Segoe UI" pitchFamily="34" charset="-122"/>
                <a:cs typeface="Segoe UI" pitchFamily="34" charset="-120"/>
              </a:rPr>
              <a:t>REFERENCES</a:t>
            </a:r>
            <a:endParaRPr lang="en-US" sz="1300" dirty="0"/>
          </a:p>
        </p:txBody>
      </p:sp>
      <p:sp>
        <p:nvSpPr>
          <p:cNvPr id="3" name="Shape 1"/>
          <p:cNvSpPr/>
          <p:nvPr/>
        </p:nvSpPr>
        <p:spPr>
          <a:xfrm>
            <a:off x="566928" y="731520"/>
            <a:ext cx="502920" cy="45720"/>
          </a:xfrm>
          <a:prstGeom prst="rect">
            <a:avLst/>
          </a:prstGeom>
          <a:solidFill>
            <a:srgbClr val="B5673A"/>
          </a:solidFill>
          <a:ln/>
        </p:spPr>
      </p:sp>
      <p:sp>
        <p:nvSpPr>
          <p:cNvPr id="4" name="Text 2"/>
          <p:cNvSpPr/>
          <p:nvPr/>
        </p:nvSpPr>
        <p:spPr>
          <a:xfrm>
            <a:off x="548640" y="1371600"/>
            <a:ext cx="11064240" cy="4754880"/>
          </a:xfrm>
          <a:prstGeom prst="rect">
            <a:avLst/>
          </a:prstGeom>
          <a:noFill/>
          <a:ln/>
        </p:spPr>
        <p:txBody>
          <a:bodyPr wrap="square" rtlCol="0" anchor="t"/>
          <a:lstStyle/>
          <a:p>
            <a:pPr indent="0" marL="0">
              <a:lnSpc>
                <a:spcPct val="104000"/>
              </a:lnSpc>
              <a:spcAft>
                <a:spcPts val="500"/>
              </a:spcAft>
              <a:buNone/>
            </a:pPr>
            <a:r>
              <a:rPr lang="en-US" sz="1500" b="1" dirty="0">
                <a:solidFill>
                  <a:srgbClr val="262626"/>
                </a:solidFill>
                <a:latin typeface="Segoe UI" pitchFamily="34" charset="0"/>
                <a:ea typeface="Segoe UI" pitchFamily="34" charset="-122"/>
                <a:cs typeface="Segoe UI" pitchFamily="34" charset="-120"/>
              </a:rPr>
              <a:t>Industry &amp; market</a:t>
            </a:r>
            <a:endParaRPr lang="en-US" sz="1250" dirty="0"/>
          </a:p>
          <a:p>
            <a:pPr marL="342900" indent="-342900">
              <a:lnSpc>
                <a:spcPct val="104000"/>
              </a:lnSpc>
              <a:spcAft>
                <a:spcPts val="300"/>
              </a:spcAft>
              <a:buSzPct val="100000"/>
              <a:buChar char="•"/>
            </a:pPr>
            <a:r>
              <a:rPr lang="en-US" sz="1250" dirty="0">
                <a:solidFill>
                  <a:srgbClr val="262626"/>
                </a:solidFill>
                <a:latin typeface="Segoe UI" pitchFamily="34" charset="0"/>
                <a:ea typeface="Segoe UI" pitchFamily="34" charset="-122"/>
                <a:cs typeface="Segoe UI" pitchFamily="34" charset="-120"/>
              </a:rPr>
              <a:t>MOE, Transforming Education through Technology Masterplan 2030.</a:t>
            </a:r>
            <a:endParaRPr lang="en-US" sz="1250" dirty="0"/>
          </a:p>
          <a:p>
            <a:pPr marL="342900" indent="-342900">
              <a:lnSpc>
                <a:spcPct val="104000"/>
              </a:lnSpc>
              <a:spcAft>
                <a:spcPts val="300"/>
              </a:spcAft>
              <a:buSzPct val="100000"/>
              <a:buChar char="•"/>
            </a:pPr>
            <a:r>
              <a:rPr lang="en-US" sz="1250" dirty="0">
                <a:solidFill>
                  <a:srgbClr val="262626"/>
                </a:solidFill>
                <a:latin typeface="Segoe UI" pitchFamily="34" charset="0"/>
                <a:ea typeface="Segoe UI" pitchFamily="34" charset="-122"/>
                <a:cs typeface="Segoe UI" pitchFamily="34" charset="-120"/>
              </a:rPr>
              <a:t>National Institute of Education (NTU), Singapore's private tutoring boom.</a:t>
            </a:r>
            <a:endParaRPr lang="en-US" sz="1250" dirty="0"/>
          </a:p>
          <a:p>
            <a:pPr marL="342900" indent="-342900">
              <a:lnSpc>
                <a:spcPct val="104000"/>
              </a:lnSpc>
              <a:spcAft>
                <a:spcPts val="300"/>
              </a:spcAft>
              <a:buSzPct val="100000"/>
              <a:buChar char="•"/>
            </a:pPr>
            <a:r>
              <a:rPr lang="en-US" sz="1250" dirty="0">
                <a:solidFill>
                  <a:srgbClr val="262626"/>
                </a:solidFill>
                <a:latin typeface="Segoe UI" pitchFamily="34" charset="0"/>
                <a:ea typeface="Segoe UI" pitchFamily="34" charset="-122"/>
                <a:cs typeface="Segoe UI" pitchFamily="34" charset="-120"/>
              </a:rPr>
              <a:t>Nexdigm, Singapore Education Industry Report.</a:t>
            </a:r>
            <a:endParaRPr lang="en-US" sz="1250" dirty="0"/>
          </a:p>
          <a:p>
            <a:pPr marL="342900" indent="-342900">
              <a:lnSpc>
                <a:spcPct val="104000"/>
              </a:lnSpc>
              <a:spcAft>
                <a:spcPts val="300"/>
              </a:spcAft>
              <a:buSzPct val="100000"/>
              <a:buChar char="•"/>
            </a:pPr>
            <a:r>
              <a:rPr lang="en-US" sz="1250" dirty="0">
                <a:solidFill>
                  <a:srgbClr val="262626"/>
                </a:solidFill>
                <a:latin typeface="Segoe UI" pitchFamily="34" charset="0"/>
                <a:ea typeface="Segoe UI" pitchFamily="34" charset="-122"/>
                <a:cs typeface="Segoe UI" pitchFamily="34" charset="-120"/>
              </a:rPr>
              <a:t>Tracxn, Geniebook and KooBits company profiles.</a:t>
            </a:r>
            <a:endParaRPr lang="en-US" sz="1250" dirty="0"/>
          </a:p>
          <a:p>
            <a:pPr marL="342900" indent="-342900">
              <a:lnSpc>
                <a:spcPct val="104000"/>
              </a:lnSpc>
              <a:spcAft>
                <a:spcPts val="1400"/>
              </a:spcAft>
              <a:buSzPct val="100000"/>
              <a:buChar char="•"/>
            </a:pPr>
            <a:r>
              <a:rPr lang="en-US" sz="1250" dirty="0">
                <a:solidFill>
                  <a:srgbClr val="262626"/>
                </a:solidFill>
                <a:latin typeface="Segoe UI" pitchFamily="34" charset="0"/>
                <a:ea typeface="Segoe UI" pitchFamily="34" charset="-122"/>
                <a:cs typeface="Segoe UI" pitchFamily="34" charset="-120"/>
              </a:rPr>
              <a:t>GovTech, Inside Singapore's digital classroom (SLS).</a:t>
            </a:r>
            <a:endParaRPr lang="en-US" sz="1250" dirty="0"/>
          </a:p>
          <a:p>
            <a:pPr indent="0" marL="0">
              <a:lnSpc>
                <a:spcPct val="104000"/>
              </a:lnSpc>
              <a:spcAft>
                <a:spcPts val="500"/>
              </a:spcAft>
              <a:buNone/>
            </a:pPr>
            <a:r>
              <a:rPr lang="en-US" sz="1500" b="1" dirty="0">
                <a:solidFill>
                  <a:srgbClr val="262626"/>
                </a:solidFill>
                <a:latin typeface="Segoe UI" pitchFamily="34" charset="0"/>
                <a:ea typeface="Segoe UI" pitchFamily="34" charset="-122"/>
                <a:cs typeface="Segoe UI" pitchFamily="34" charset="-120"/>
              </a:rPr>
              <a:t>Tools &amp; technologies</a:t>
            </a:r>
            <a:endParaRPr lang="en-US" sz="1250" dirty="0"/>
          </a:p>
          <a:p>
            <a:pPr marL="342900" indent="-342900">
              <a:lnSpc>
                <a:spcPct val="104000"/>
              </a:lnSpc>
              <a:buSzPct val="100000"/>
              <a:buChar char="•"/>
            </a:pPr>
            <a:r>
              <a:rPr lang="en-US" sz="1250" dirty="0">
                <a:solidFill>
                  <a:srgbClr val="262626"/>
                </a:solidFill>
                <a:latin typeface="Segoe UI" pitchFamily="34" charset="0"/>
                <a:ea typeface="Segoe UI" pitchFamily="34" charset="-122"/>
                <a:cs typeface="Segoe UI" pitchFamily="34" charset="-120"/>
              </a:rPr>
              <a:t>React, FastAPI, MySQL, PyMuPDF, EasyOCR, pytesseract, Google Sheets &amp; Drive APIs, Claude, Cloudflare Pages, Render, Railway.</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457200"/>
          </a:xfrm>
          <a:prstGeom prst="rect">
            <a:avLst/>
          </a:prstGeom>
          <a:solidFill>
            <a:srgbClr val="B5673A"/>
          </a:solidFill>
          <a:ln/>
        </p:spPr>
      </p:sp>
      <p:pic>
        <p:nvPicPr>
          <p:cNvPr id="3" name="Image 0" descr="/sessions/kind-inspiring-mendel/mnt/quizMaker/curious_logo.png">    </p:cNvPr>
          <p:cNvPicPr>
            <a:picLocks noChangeAspect="1"/>
          </p:cNvPicPr>
          <p:nvPr/>
        </p:nvPicPr>
        <p:blipFill>
          <a:blip r:embed="rId1"/>
          <a:stretch>
            <a:fillRect/>
          </a:stretch>
        </p:blipFill>
        <p:spPr>
          <a:xfrm>
            <a:off x="5641848" y="960120"/>
            <a:ext cx="914400" cy="914400"/>
          </a:xfrm>
          <a:prstGeom prst="rect">
            <a:avLst/>
          </a:prstGeom>
        </p:spPr>
      </p:pic>
      <p:sp>
        <p:nvSpPr>
          <p:cNvPr id="4" name="Shape 1"/>
          <p:cNvSpPr/>
          <p:nvPr/>
        </p:nvSpPr>
        <p:spPr>
          <a:xfrm>
            <a:off x="2103120" y="2331720"/>
            <a:ext cx="7955280" cy="2240280"/>
          </a:xfrm>
          <a:prstGeom prst="roundRect">
            <a:avLst>
              <a:gd name="adj" fmla="val 4082"/>
            </a:avLst>
          </a:prstGeom>
          <a:solidFill>
            <a:srgbClr val="FFFFFF"/>
          </a:solidFill>
          <a:ln w="19050">
            <a:solidFill>
              <a:srgbClr val="B5673A"/>
            </a:solidFill>
            <a:prstDash val="solid"/>
          </a:ln>
          <a:effectLst>
            <a:outerShdw sx="100000" sy="100000" kx="0" ky="0" algn="bl" rotWithShape="0" blurRad="114300" dist="38100" dir="5400000">
              <a:srgbClr val="D9CFC2">
                <a:alpha val="55000"/>
              </a:srgbClr>
            </a:outerShdw>
          </a:effectLst>
        </p:spPr>
      </p:sp>
      <p:sp>
        <p:nvSpPr>
          <p:cNvPr id="5" name="Text 2"/>
          <p:cNvSpPr/>
          <p:nvPr/>
        </p:nvSpPr>
        <p:spPr>
          <a:xfrm>
            <a:off x="2103120" y="2788920"/>
            <a:ext cx="7955280" cy="914400"/>
          </a:xfrm>
          <a:prstGeom prst="rect">
            <a:avLst/>
          </a:prstGeom>
          <a:noFill/>
          <a:ln/>
        </p:spPr>
        <p:txBody>
          <a:bodyPr wrap="square" rtlCol="0" anchor="ctr"/>
          <a:lstStyle/>
          <a:p>
            <a:pPr algn="ctr" indent="0" marL="0">
              <a:buNone/>
            </a:pPr>
            <a:r>
              <a:rPr lang="en-US" sz="4800" b="1" dirty="0">
                <a:solidFill>
                  <a:srgbClr val="B5673A"/>
                </a:solidFill>
                <a:latin typeface="Segoe UI Semibold" pitchFamily="34" charset="0"/>
                <a:ea typeface="Segoe UI Semibold" pitchFamily="34" charset="-122"/>
                <a:cs typeface="Segoe UI Semibold" pitchFamily="34" charset="-120"/>
              </a:rPr>
              <a:t>THANK YOU</a:t>
            </a:r>
            <a:endParaRPr lang="en-US" sz="4800" dirty="0"/>
          </a:p>
        </p:txBody>
      </p:sp>
      <p:sp>
        <p:nvSpPr>
          <p:cNvPr id="6" name="Text 3"/>
          <p:cNvSpPr/>
          <p:nvPr/>
        </p:nvSpPr>
        <p:spPr>
          <a:xfrm>
            <a:off x="2103120" y="3749040"/>
            <a:ext cx="7955280" cy="457200"/>
          </a:xfrm>
          <a:prstGeom prst="rect">
            <a:avLst/>
          </a:prstGeom>
          <a:noFill/>
          <a:ln/>
        </p:spPr>
        <p:txBody>
          <a:bodyPr wrap="square" rtlCol="0" anchor="ctr"/>
          <a:lstStyle/>
          <a:p>
            <a:pPr algn="ctr" indent="0" marL="0">
              <a:buNone/>
            </a:pPr>
            <a:r>
              <a:rPr lang="en-US" sz="1800" spc="200" kern="0" dirty="0">
                <a:solidFill>
                  <a:srgbClr val="262626"/>
                </a:solidFill>
                <a:latin typeface="Segoe UI" pitchFamily="34" charset="0"/>
                <a:ea typeface="Segoe UI" pitchFamily="34" charset="-122"/>
                <a:cs typeface="Segoe UI" pitchFamily="34" charset="-120"/>
              </a:rPr>
              <a:t>Questions &amp; Answers</a:t>
            </a:r>
            <a:endParaRPr lang="en-US" sz="1800" dirty="0"/>
          </a:p>
        </p:txBody>
      </p:sp>
      <p:sp>
        <p:nvSpPr>
          <p:cNvPr id="7" name="Shape 4"/>
          <p:cNvSpPr/>
          <p:nvPr/>
        </p:nvSpPr>
        <p:spPr>
          <a:xfrm>
            <a:off x="3657600" y="5074920"/>
            <a:ext cx="4846320" cy="201168"/>
          </a:xfrm>
          <a:prstGeom prst="roundRect">
            <a:avLst>
              <a:gd name="adj" fmla="val 50000"/>
            </a:avLst>
          </a:prstGeom>
          <a:solidFill>
            <a:srgbClr val="F3E7DC"/>
          </a:solidFill>
          <a:ln/>
        </p:spPr>
      </p:sp>
      <p:sp>
        <p:nvSpPr>
          <p:cNvPr id="8" name="Shape 5"/>
          <p:cNvSpPr/>
          <p:nvPr/>
        </p:nvSpPr>
        <p:spPr>
          <a:xfrm>
            <a:off x="3657600" y="5074920"/>
            <a:ext cx="4846320" cy="201168"/>
          </a:xfrm>
          <a:prstGeom prst="roundRect">
            <a:avLst>
              <a:gd name="adj" fmla="val 50000"/>
            </a:avLst>
          </a:prstGeom>
          <a:solidFill>
            <a:srgbClr val="B5673A"/>
          </a:solidFill>
          <a:ln/>
        </p:spPr>
      </p:sp>
      <p:sp>
        <p:nvSpPr>
          <p:cNvPr id="9" name="Text 6"/>
          <p:cNvSpPr/>
          <p:nvPr/>
        </p:nvSpPr>
        <p:spPr>
          <a:xfrm>
            <a:off x="3657600" y="5321808"/>
            <a:ext cx="4846320" cy="274320"/>
          </a:xfrm>
          <a:prstGeom prst="rect">
            <a:avLst/>
          </a:prstGeom>
          <a:noFill/>
          <a:ln/>
        </p:spPr>
        <p:txBody>
          <a:bodyPr wrap="square" rtlCol="0" anchor="ctr"/>
          <a:lstStyle/>
          <a:p>
            <a:pPr algn="ctr" indent="0" marL="0">
              <a:buNone/>
            </a:pPr>
            <a:r>
              <a:rPr lang="en-US" sz="1100" dirty="0">
                <a:solidFill>
                  <a:srgbClr val="6B6B6B"/>
                </a:solidFill>
                <a:latin typeface="Segoe UI" pitchFamily="34" charset="0"/>
                <a:ea typeface="Segoe UI" pitchFamily="34" charset="-122"/>
                <a:cs typeface="Segoe UI" pitchFamily="34" charset="-120"/>
              </a:rPr>
              <a:t>Internship complete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2026-07-28T13:44:23Z</dcterms:created>
  <dcterms:modified xsi:type="dcterms:W3CDTF">2026-07-28T13:44:23Z</dcterms:modified>
</cp:coreProperties>
</file>